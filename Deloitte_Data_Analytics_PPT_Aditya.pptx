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43691B">
              <a:alpha val="45000"/>
            </a:srgbClr>
          </a:solidFill>
          <a:ln/>
        </p:spPr>
      </p:sp>
      <p:sp>
        <p:nvSpPr>
          <p:cNvPr id="3" name="Shape 1"/>
          <p:cNvSpPr/>
          <p:nvPr/>
        </p:nvSpPr>
        <p:spPr>
          <a:xfrm>
            <a:off x="11521440" y="2743200"/>
            <a:ext cx="4754880" cy="4754880"/>
          </a:xfrm>
          <a:prstGeom prst="ellipse">
            <a:avLst/>
          </a:prstGeom>
          <a:solidFill>
            <a:srgbClr val="43691B">
              <a:alpha val="45000"/>
            </a:srgbClr>
          </a:solidFill>
          <a:ln/>
        </p:spPr>
      </p:sp>
      <p:sp>
        <p:nvSpPr>
          <p:cNvPr id="4" name="Shape 2"/>
          <p:cNvSpPr/>
          <p:nvPr/>
        </p:nvSpPr>
        <p:spPr>
          <a:xfrm>
            <a:off x="-1645920" y="5120640"/>
            <a:ext cx="4114800" cy="4114800"/>
          </a:xfrm>
          <a:prstGeom prst="ellipse">
            <a:avLst/>
          </a:prstGeom>
          <a:solidFill>
            <a:srgbClr val="43691B">
              <a:alpha val="40000"/>
            </a:srgbClr>
          </a:solidFill>
          <a:ln/>
        </p:spPr>
      </p:sp>
      <p:pic>
        <p:nvPicPr>
          <p:cNvPr id="5" name="Image 0" descr="/home/claude/iilm_logo.png">    </p:cNvPr>
          <p:cNvPicPr>
            <a:picLocks noChangeAspect="1"/>
          </p:cNvPicPr>
          <p:nvPr/>
        </p:nvPicPr>
        <p:blipFill>
          <a:blip r:embed="rId1"/>
          <a:stretch>
            <a:fillRect/>
          </a:stretch>
        </p:blipFill>
        <p:spPr>
          <a:xfrm>
            <a:off x="502920" y="457200"/>
            <a:ext cx="502920" cy="539496"/>
          </a:xfrm>
          <a:prstGeom prst="rect">
            <a:avLst/>
          </a:prstGeom>
        </p:spPr>
      </p:pic>
      <p:sp>
        <p:nvSpPr>
          <p:cNvPr id="6" name="Text 3"/>
          <p:cNvSpPr/>
          <p:nvPr/>
        </p:nvSpPr>
        <p:spPr>
          <a:xfrm>
            <a:off x="1143000" y="457200"/>
            <a:ext cx="5486400" cy="457200"/>
          </a:xfrm>
          <a:prstGeom prst="rect">
            <a:avLst/>
          </a:prstGeom>
          <a:noFill/>
          <a:ln/>
        </p:spPr>
        <p:txBody>
          <a:bodyPr wrap="square"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IILM UNIVERSITY, GREATER NOIDA</a:t>
            </a:r>
            <a:endParaRPr lang="en-US" sz="1300" dirty="0"/>
          </a:p>
        </p:txBody>
      </p:sp>
      <p:sp>
        <p:nvSpPr>
          <p:cNvPr id="7" name="Text 4"/>
          <p:cNvSpPr/>
          <p:nvPr/>
        </p:nvSpPr>
        <p:spPr>
          <a:xfrm>
            <a:off x="502920" y="1965960"/>
            <a:ext cx="6400800" cy="365760"/>
          </a:xfrm>
          <a:prstGeom prst="rect">
            <a:avLst/>
          </a:prstGeom>
          <a:noFill/>
          <a:ln/>
        </p:spPr>
        <p:txBody>
          <a:bodyPr wrap="square" rtlCol="0" anchor="ctr"/>
          <a:lstStyle/>
          <a:p>
            <a:pPr indent="0" marL="0">
              <a:buNone/>
            </a:pPr>
            <a:r>
              <a:rPr lang="en-US" sz="1300" b="1" spc="150" kern="0" dirty="0">
                <a:solidFill>
                  <a:srgbClr val="86BC25"/>
                </a:solidFill>
                <a:latin typeface="Calibri" pitchFamily="34" charset="0"/>
                <a:ea typeface="Calibri" pitchFamily="34" charset="-122"/>
                <a:cs typeface="Calibri" pitchFamily="34" charset="-120"/>
              </a:rPr>
              <a:t>INTERNSHIP REPORT PRESENTATION</a:t>
            </a:r>
            <a:endParaRPr lang="en-US" sz="1300" dirty="0"/>
          </a:p>
        </p:txBody>
      </p:sp>
      <p:sp>
        <p:nvSpPr>
          <p:cNvPr id="8" name="Text 5"/>
          <p:cNvSpPr/>
          <p:nvPr/>
        </p:nvSpPr>
        <p:spPr>
          <a:xfrm>
            <a:off x="457200" y="2331720"/>
            <a:ext cx="8229600" cy="9601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Data Analytics</a:t>
            </a:r>
            <a:endParaRPr lang="en-US" sz="5400" dirty="0"/>
          </a:p>
        </p:txBody>
      </p:sp>
      <p:sp>
        <p:nvSpPr>
          <p:cNvPr id="9" name="Text 6"/>
          <p:cNvSpPr/>
          <p:nvPr/>
        </p:nvSpPr>
        <p:spPr>
          <a:xfrm>
            <a:off x="502920" y="3246120"/>
            <a:ext cx="8229600" cy="640080"/>
          </a:xfrm>
          <a:prstGeom prst="rect">
            <a:avLst/>
          </a:prstGeom>
          <a:noFill/>
          <a:ln/>
        </p:spPr>
        <p:txBody>
          <a:bodyPr wrap="square" rtlCol="0" anchor="ctr"/>
          <a:lstStyle/>
          <a:p>
            <a:pPr indent="0" marL="0">
              <a:buNone/>
            </a:pPr>
            <a:r>
              <a:rPr lang="en-US" sz="3200" dirty="0">
                <a:solidFill>
                  <a:srgbClr val="D9E4C9"/>
                </a:solidFill>
                <a:latin typeface="Cambria" pitchFamily="34" charset="0"/>
                <a:ea typeface="Cambria" pitchFamily="34" charset="-122"/>
                <a:cs typeface="Cambria" pitchFamily="34" charset="-120"/>
              </a:rPr>
              <a:t>Job Simulation</a:t>
            </a:r>
            <a:endParaRPr lang="en-US" sz="3200" dirty="0"/>
          </a:p>
        </p:txBody>
      </p:sp>
      <p:sp>
        <p:nvSpPr>
          <p:cNvPr id="10" name="Text 7"/>
          <p:cNvSpPr/>
          <p:nvPr/>
        </p:nvSpPr>
        <p:spPr>
          <a:xfrm>
            <a:off x="502920" y="3977640"/>
            <a:ext cx="8229600" cy="365760"/>
          </a:xfrm>
          <a:prstGeom prst="rect">
            <a:avLst/>
          </a:prstGeom>
          <a:noFill/>
          <a:ln/>
        </p:spPr>
        <p:txBody>
          <a:bodyPr wrap="square" rtlCol="0" anchor="ctr"/>
          <a:lstStyle/>
          <a:p>
            <a:pPr indent="0" marL="0">
              <a:buNone/>
            </a:pPr>
            <a:r>
              <a:rPr lang="en-US" sz="1500" dirty="0">
                <a:solidFill>
                  <a:srgbClr val="C9D4BE"/>
                </a:solidFill>
                <a:latin typeface="Calibri" pitchFamily="34" charset="0"/>
                <a:ea typeface="Calibri" pitchFamily="34" charset="-122"/>
                <a:cs typeface="Calibri" pitchFamily="34" charset="-120"/>
              </a:rPr>
              <a:t>Deloitte Australia  |  Forage Virtual Experience Program</a:t>
            </a:r>
            <a:endParaRPr lang="en-US" sz="1500" dirty="0"/>
          </a:p>
        </p:txBody>
      </p:sp>
      <p:sp>
        <p:nvSpPr>
          <p:cNvPr id="11" name="Shape 8"/>
          <p:cNvSpPr/>
          <p:nvPr/>
        </p:nvSpPr>
        <p:spPr>
          <a:xfrm>
            <a:off x="502920" y="4526280"/>
            <a:ext cx="1463040" cy="0"/>
          </a:xfrm>
          <a:prstGeom prst="line">
            <a:avLst/>
          </a:prstGeom>
          <a:noFill/>
          <a:ln w="31750">
            <a:solidFill>
              <a:srgbClr val="86BC25"/>
            </a:solidFill>
            <a:prstDash val="solid"/>
          </a:ln>
        </p:spPr>
      </p:sp>
      <p:sp>
        <p:nvSpPr>
          <p:cNvPr id="12" name="Text 9"/>
          <p:cNvSpPr/>
          <p:nvPr/>
        </p:nvSpPr>
        <p:spPr>
          <a:xfrm>
            <a:off x="502920" y="4800600"/>
            <a:ext cx="5486400" cy="41148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Aditya Kumar</a:t>
            </a:r>
            <a:endParaRPr lang="en-US" sz="2000" dirty="0"/>
          </a:p>
        </p:txBody>
      </p:sp>
      <p:sp>
        <p:nvSpPr>
          <p:cNvPr id="13" name="Text 10"/>
          <p:cNvSpPr/>
          <p:nvPr/>
        </p:nvSpPr>
        <p:spPr>
          <a:xfrm>
            <a:off x="502920" y="5193792"/>
            <a:ext cx="6400800" cy="320040"/>
          </a:xfrm>
          <a:prstGeom prst="rect">
            <a:avLst/>
          </a:prstGeom>
          <a:noFill/>
          <a:ln/>
        </p:spPr>
        <p:txBody>
          <a:bodyPr wrap="square" rtlCol="0" anchor="ctr"/>
          <a:lstStyle/>
          <a:p>
            <a:pPr indent="0" marL="0">
              <a:buNone/>
            </a:pPr>
            <a:r>
              <a:rPr lang="en-US" sz="1300" dirty="0">
                <a:solidFill>
                  <a:srgbClr val="C9D4BE"/>
                </a:solidFill>
                <a:latin typeface="Calibri" pitchFamily="34" charset="0"/>
                <a:ea typeface="Calibri" pitchFamily="34" charset="-122"/>
                <a:cs typeface="Calibri" pitchFamily="34" charset="-120"/>
              </a:rPr>
              <a:t>Roll No. 2410031161  |  B.Tech CSE, Section 2CSE7</a:t>
            </a:r>
            <a:endParaRPr lang="en-US" sz="1300" dirty="0"/>
          </a:p>
        </p:txBody>
      </p:sp>
      <p:sp>
        <p:nvSpPr>
          <p:cNvPr id="14" name="Text 11"/>
          <p:cNvSpPr/>
          <p:nvPr/>
        </p:nvSpPr>
        <p:spPr>
          <a:xfrm>
            <a:off x="502920" y="5468112"/>
            <a:ext cx="6400800" cy="320040"/>
          </a:xfrm>
          <a:prstGeom prst="rect">
            <a:avLst/>
          </a:prstGeom>
          <a:noFill/>
          <a:ln/>
        </p:spPr>
        <p:txBody>
          <a:bodyPr wrap="square" rtlCol="0" anchor="ctr"/>
          <a:lstStyle/>
          <a:p>
            <a:pPr indent="0" marL="0">
              <a:buNone/>
            </a:pPr>
            <a:r>
              <a:rPr lang="en-US" sz="1300" dirty="0">
                <a:solidFill>
                  <a:srgbClr val="C9D4BE"/>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A1A1A"/>
          </a:solidFill>
          <a:ln/>
        </p:spPr>
      </p:sp>
      <p:sp>
        <p:nvSpPr>
          <p:cNvPr id="3" name="Shape 1"/>
          <p:cNvSpPr/>
          <p:nvPr/>
        </p:nvSpPr>
        <p:spPr>
          <a:xfrm>
            <a:off x="-1828800" y="4572000"/>
            <a:ext cx="4114800" cy="4114800"/>
          </a:xfrm>
          <a:prstGeom prst="ellipse">
            <a:avLst/>
          </a:prstGeom>
          <a:solidFill>
            <a:srgbClr val="43691B">
              <a:alpha val="55000"/>
            </a:srgbClr>
          </a:solidFill>
          <a:ln/>
        </p:spPr>
      </p:sp>
      <p:sp>
        <p:nvSpPr>
          <p:cNvPr id="4" name="Shape 2"/>
          <p:cNvSpPr/>
          <p:nvPr/>
        </p:nvSpPr>
        <p:spPr>
          <a:xfrm>
            <a:off x="1417320" y="1051560"/>
            <a:ext cx="1097280" cy="1097280"/>
          </a:xfrm>
          <a:prstGeom prst="ellipse">
            <a:avLst/>
          </a:prstGeom>
          <a:solidFill>
            <a:srgbClr val="43691B"/>
          </a:solidFill>
          <a:ln/>
        </p:spPr>
      </p:sp>
      <p:pic>
        <p:nvPicPr>
          <p:cNvPr id="5" name="Image 0" descr="/home/claude/icons/cap.png">    </p:cNvPr>
          <p:cNvPicPr>
            <a:picLocks noChangeAspect="1"/>
          </p:cNvPicPr>
          <p:nvPr/>
        </p:nvPicPr>
        <p:blipFill>
          <a:blip r:embed="rId1"/>
          <a:stretch>
            <a:fillRect/>
          </a:stretch>
        </p:blipFill>
        <p:spPr>
          <a:xfrm>
            <a:off x="1702613" y="1336853"/>
            <a:ext cx="526694" cy="526694"/>
          </a:xfrm>
          <a:prstGeom prst="rect">
            <a:avLst/>
          </a:prstGeom>
        </p:spPr>
      </p:pic>
      <p:sp>
        <p:nvSpPr>
          <p:cNvPr id="6" name="Text 3"/>
          <p:cNvSpPr/>
          <p:nvPr/>
        </p:nvSpPr>
        <p:spPr>
          <a:xfrm>
            <a:off x="365760" y="2423160"/>
            <a:ext cx="3200400" cy="10058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Aditya</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Kumar</a:t>
            </a:r>
            <a:endParaRPr lang="en-US" sz="2600" dirty="0"/>
          </a:p>
        </p:txBody>
      </p:sp>
      <p:sp>
        <p:nvSpPr>
          <p:cNvPr id="7" name="Text 4"/>
          <p:cNvSpPr/>
          <p:nvPr/>
        </p:nvSpPr>
        <p:spPr>
          <a:xfrm>
            <a:off x="365760" y="3520440"/>
            <a:ext cx="3200400" cy="457200"/>
          </a:xfrm>
          <a:prstGeom prst="rect">
            <a:avLst/>
          </a:prstGeom>
          <a:noFill/>
          <a:ln/>
        </p:spPr>
        <p:txBody>
          <a:bodyPr wrap="square" rtlCol="0" anchor="ctr"/>
          <a:lstStyle/>
          <a:p>
            <a:pPr algn="ctr" indent="0" marL="0">
              <a:buNone/>
            </a:pPr>
            <a:r>
              <a:rPr lang="en-US" sz="1200" dirty="0">
                <a:solidFill>
                  <a:srgbClr val="C9D4BE"/>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5"/>
          <p:cNvSpPr/>
          <p:nvPr/>
        </p:nvSpPr>
        <p:spPr>
          <a:xfrm>
            <a:off x="4434840" y="502920"/>
            <a:ext cx="5486400" cy="320040"/>
          </a:xfrm>
          <a:prstGeom prst="rect">
            <a:avLst/>
          </a:prstGeom>
          <a:noFill/>
          <a:ln/>
        </p:spPr>
        <p:txBody>
          <a:bodyPr wrap="square" rtlCol="0" anchor="ctr"/>
          <a:lstStyle/>
          <a:p>
            <a:pPr indent="0" marL="0">
              <a:buNone/>
            </a:pPr>
            <a:r>
              <a:rPr lang="en-US" sz="1200" b="1" spc="150" kern="0" dirty="0">
                <a:solidFill>
                  <a:srgbClr val="86BC25"/>
                </a:solidFill>
                <a:latin typeface="Calibri" pitchFamily="34" charset="0"/>
                <a:ea typeface="Calibri" pitchFamily="34" charset="-122"/>
                <a:cs typeface="Calibri" pitchFamily="34" charset="-120"/>
              </a:rPr>
              <a:t>ABOUT THE STUDENT</a:t>
            </a:r>
            <a:endParaRPr lang="en-US" sz="1200" dirty="0"/>
          </a:p>
        </p:txBody>
      </p:sp>
      <p:sp>
        <p:nvSpPr>
          <p:cNvPr id="9" name="Text 6"/>
          <p:cNvSpPr/>
          <p:nvPr/>
        </p:nvSpPr>
        <p:spPr>
          <a:xfrm>
            <a:off x="4389120" y="822960"/>
            <a:ext cx="640080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Candidate Profile</a:t>
            </a:r>
            <a:endParaRPr lang="en-US" sz="3200" dirty="0"/>
          </a:p>
        </p:txBody>
      </p:sp>
      <p:sp>
        <p:nvSpPr>
          <p:cNvPr id="10" name="Shape 7"/>
          <p:cNvSpPr/>
          <p:nvPr/>
        </p:nvSpPr>
        <p:spPr>
          <a:xfrm>
            <a:off x="4434840" y="1691640"/>
            <a:ext cx="502920" cy="502920"/>
          </a:xfrm>
          <a:prstGeom prst="ellipse">
            <a:avLst/>
          </a:prstGeom>
          <a:solidFill>
            <a:srgbClr val="EEF2E7"/>
          </a:solidFill>
          <a:ln/>
        </p:spPr>
      </p:sp>
      <p:pic>
        <p:nvPicPr>
          <p:cNvPr id="11" name="Image 1" descr="/home/claude/icons/idcard_dark.png">    </p:cNvPr>
          <p:cNvPicPr>
            <a:picLocks noChangeAspect="1"/>
          </p:cNvPicPr>
          <p:nvPr/>
        </p:nvPicPr>
        <p:blipFill>
          <a:blip r:embed="rId2"/>
          <a:stretch>
            <a:fillRect/>
          </a:stretch>
        </p:blipFill>
        <p:spPr>
          <a:xfrm>
            <a:off x="4565599" y="1822399"/>
            <a:ext cx="241402" cy="241402"/>
          </a:xfrm>
          <a:prstGeom prst="rect">
            <a:avLst/>
          </a:prstGeom>
        </p:spPr>
      </p:pic>
      <p:sp>
        <p:nvSpPr>
          <p:cNvPr id="12" name="Text 8"/>
          <p:cNvSpPr/>
          <p:nvPr/>
        </p:nvSpPr>
        <p:spPr>
          <a:xfrm>
            <a:off x="5166360" y="1664208"/>
            <a:ext cx="5943600" cy="274320"/>
          </a:xfrm>
          <a:prstGeom prst="rect">
            <a:avLst/>
          </a:prstGeom>
          <a:noFill/>
          <a:ln/>
        </p:spPr>
        <p:txBody>
          <a:bodyPr wrap="square" rtlCol="0" anchor="ctr"/>
          <a:lstStyle/>
          <a:p>
            <a:pPr indent="0" marL="0">
              <a:buNone/>
            </a:pPr>
            <a:r>
              <a:rPr lang="en-US" sz="1200" b="1" dirty="0">
                <a:solidFill>
                  <a:srgbClr val="43691B"/>
                </a:solidFill>
                <a:latin typeface="Calibri" pitchFamily="34" charset="0"/>
                <a:ea typeface="Calibri" pitchFamily="34" charset="-122"/>
                <a:cs typeface="Calibri" pitchFamily="34" charset="-120"/>
              </a:rPr>
              <a:t>Roll Number</a:t>
            </a:r>
            <a:endParaRPr lang="en-US" sz="1200" dirty="0"/>
          </a:p>
        </p:txBody>
      </p:sp>
      <p:sp>
        <p:nvSpPr>
          <p:cNvPr id="13" name="Text 9"/>
          <p:cNvSpPr/>
          <p:nvPr/>
        </p:nvSpPr>
        <p:spPr>
          <a:xfrm>
            <a:off x="5166360" y="1911096"/>
            <a:ext cx="6309360" cy="3657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2410031161</a:t>
            </a:r>
            <a:endParaRPr lang="en-US" sz="1500" dirty="0"/>
          </a:p>
        </p:txBody>
      </p:sp>
      <p:sp>
        <p:nvSpPr>
          <p:cNvPr id="14" name="Shape 10"/>
          <p:cNvSpPr/>
          <p:nvPr/>
        </p:nvSpPr>
        <p:spPr>
          <a:xfrm>
            <a:off x="4434840" y="2560320"/>
            <a:ext cx="502920" cy="502920"/>
          </a:xfrm>
          <a:prstGeom prst="ellipse">
            <a:avLst/>
          </a:prstGeom>
          <a:solidFill>
            <a:srgbClr val="EEF2E7"/>
          </a:solidFill>
          <a:ln/>
        </p:spPr>
      </p:sp>
      <p:pic>
        <p:nvPicPr>
          <p:cNvPr id="15" name="Image 2" descr="/home/claude/icons/building_dark.png">    </p:cNvPr>
          <p:cNvPicPr>
            <a:picLocks noChangeAspect="1"/>
          </p:cNvPicPr>
          <p:nvPr/>
        </p:nvPicPr>
        <p:blipFill>
          <a:blip r:embed="rId3"/>
          <a:stretch>
            <a:fillRect/>
          </a:stretch>
        </p:blipFill>
        <p:spPr>
          <a:xfrm>
            <a:off x="4565599" y="2691079"/>
            <a:ext cx="241402" cy="241402"/>
          </a:xfrm>
          <a:prstGeom prst="rect">
            <a:avLst/>
          </a:prstGeom>
        </p:spPr>
      </p:pic>
      <p:sp>
        <p:nvSpPr>
          <p:cNvPr id="16" name="Text 11"/>
          <p:cNvSpPr/>
          <p:nvPr/>
        </p:nvSpPr>
        <p:spPr>
          <a:xfrm>
            <a:off x="5166360" y="2532888"/>
            <a:ext cx="5943600" cy="274320"/>
          </a:xfrm>
          <a:prstGeom prst="rect">
            <a:avLst/>
          </a:prstGeom>
          <a:noFill/>
          <a:ln/>
        </p:spPr>
        <p:txBody>
          <a:bodyPr wrap="square" rtlCol="0" anchor="ctr"/>
          <a:lstStyle/>
          <a:p>
            <a:pPr indent="0" marL="0">
              <a:buNone/>
            </a:pPr>
            <a:r>
              <a:rPr lang="en-US" sz="1200" b="1" dirty="0">
                <a:solidFill>
                  <a:srgbClr val="43691B"/>
                </a:solidFill>
                <a:latin typeface="Calibri" pitchFamily="34" charset="0"/>
                <a:ea typeface="Calibri" pitchFamily="34" charset="-122"/>
                <a:cs typeface="Calibri" pitchFamily="34" charset="-120"/>
              </a:rPr>
              <a:t>Institute</a:t>
            </a:r>
            <a:endParaRPr lang="en-US" sz="1200" dirty="0"/>
          </a:p>
        </p:txBody>
      </p:sp>
      <p:sp>
        <p:nvSpPr>
          <p:cNvPr id="17" name="Text 12"/>
          <p:cNvSpPr/>
          <p:nvPr/>
        </p:nvSpPr>
        <p:spPr>
          <a:xfrm>
            <a:off x="5166360" y="2779776"/>
            <a:ext cx="6309360" cy="3657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IILM University, Greater Noida, U.P.</a:t>
            </a:r>
            <a:endParaRPr lang="en-US" sz="1500" dirty="0"/>
          </a:p>
        </p:txBody>
      </p:sp>
      <p:sp>
        <p:nvSpPr>
          <p:cNvPr id="18" name="Shape 13"/>
          <p:cNvSpPr/>
          <p:nvPr/>
        </p:nvSpPr>
        <p:spPr>
          <a:xfrm>
            <a:off x="4434840" y="3429000"/>
            <a:ext cx="502920" cy="502920"/>
          </a:xfrm>
          <a:prstGeom prst="ellipse">
            <a:avLst/>
          </a:prstGeom>
          <a:solidFill>
            <a:srgbClr val="EEF2E7"/>
          </a:solidFill>
          <a:ln/>
        </p:spPr>
      </p:sp>
      <p:pic>
        <p:nvPicPr>
          <p:cNvPr id="19" name="Image 3" descr="/home/claude/icons/cap_dark.png">    </p:cNvPr>
          <p:cNvPicPr>
            <a:picLocks noChangeAspect="1"/>
          </p:cNvPicPr>
          <p:nvPr/>
        </p:nvPicPr>
        <p:blipFill>
          <a:blip r:embed="rId4"/>
          <a:stretch>
            <a:fillRect/>
          </a:stretch>
        </p:blipFill>
        <p:spPr>
          <a:xfrm>
            <a:off x="4565599" y="3559759"/>
            <a:ext cx="241402" cy="241402"/>
          </a:xfrm>
          <a:prstGeom prst="rect">
            <a:avLst/>
          </a:prstGeom>
        </p:spPr>
      </p:pic>
      <p:sp>
        <p:nvSpPr>
          <p:cNvPr id="20" name="Text 14"/>
          <p:cNvSpPr/>
          <p:nvPr/>
        </p:nvSpPr>
        <p:spPr>
          <a:xfrm>
            <a:off x="5166360" y="3401568"/>
            <a:ext cx="5943600" cy="274320"/>
          </a:xfrm>
          <a:prstGeom prst="rect">
            <a:avLst/>
          </a:prstGeom>
          <a:noFill/>
          <a:ln/>
        </p:spPr>
        <p:txBody>
          <a:bodyPr wrap="square" rtlCol="0" anchor="ctr"/>
          <a:lstStyle/>
          <a:p>
            <a:pPr indent="0" marL="0">
              <a:buNone/>
            </a:pPr>
            <a:r>
              <a:rPr lang="en-US" sz="1200" b="1" dirty="0">
                <a:solidFill>
                  <a:srgbClr val="43691B"/>
                </a:solidFill>
                <a:latin typeface="Calibri" pitchFamily="34" charset="0"/>
                <a:ea typeface="Calibri" pitchFamily="34" charset="-122"/>
                <a:cs typeface="Calibri" pitchFamily="34" charset="-120"/>
              </a:rPr>
              <a:t>Programme</a:t>
            </a:r>
            <a:endParaRPr lang="en-US" sz="1200" dirty="0"/>
          </a:p>
        </p:txBody>
      </p:sp>
      <p:sp>
        <p:nvSpPr>
          <p:cNvPr id="21" name="Text 15"/>
          <p:cNvSpPr/>
          <p:nvPr/>
        </p:nvSpPr>
        <p:spPr>
          <a:xfrm>
            <a:off x="5166360" y="3648456"/>
            <a:ext cx="6309360" cy="3657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B.Tech CSE, Section 2CSE7, Batch 2024–2028</a:t>
            </a:r>
            <a:endParaRPr lang="en-US" sz="1500" dirty="0"/>
          </a:p>
        </p:txBody>
      </p:sp>
      <p:sp>
        <p:nvSpPr>
          <p:cNvPr id="22" name="Shape 16"/>
          <p:cNvSpPr/>
          <p:nvPr/>
        </p:nvSpPr>
        <p:spPr>
          <a:xfrm>
            <a:off x="4434840" y="4297680"/>
            <a:ext cx="502920" cy="502920"/>
          </a:xfrm>
          <a:prstGeom prst="ellipse">
            <a:avLst/>
          </a:prstGeom>
          <a:solidFill>
            <a:srgbClr val="EEF2E7"/>
          </a:solidFill>
          <a:ln/>
        </p:spPr>
      </p:sp>
      <p:pic>
        <p:nvPicPr>
          <p:cNvPr id="23" name="Image 4" descr="/home/claude/icons/target_dark.png">    </p:cNvPr>
          <p:cNvPicPr>
            <a:picLocks noChangeAspect="1"/>
          </p:cNvPicPr>
          <p:nvPr/>
        </p:nvPicPr>
        <p:blipFill>
          <a:blip r:embed="rId5"/>
          <a:stretch>
            <a:fillRect/>
          </a:stretch>
        </p:blipFill>
        <p:spPr>
          <a:xfrm>
            <a:off x="4565599" y="4428439"/>
            <a:ext cx="241402" cy="241402"/>
          </a:xfrm>
          <a:prstGeom prst="rect">
            <a:avLst/>
          </a:prstGeom>
        </p:spPr>
      </p:pic>
      <p:sp>
        <p:nvSpPr>
          <p:cNvPr id="24" name="Text 17"/>
          <p:cNvSpPr/>
          <p:nvPr/>
        </p:nvSpPr>
        <p:spPr>
          <a:xfrm>
            <a:off x="5166360" y="4270248"/>
            <a:ext cx="5943600" cy="274320"/>
          </a:xfrm>
          <a:prstGeom prst="rect">
            <a:avLst/>
          </a:prstGeom>
          <a:noFill/>
          <a:ln/>
        </p:spPr>
        <p:txBody>
          <a:bodyPr wrap="square" rtlCol="0" anchor="ctr"/>
          <a:lstStyle/>
          <a:p>
            <a:pPr indent="0" marL="0">
              <a:buNone/>
            </a:pPr>
            <a:r>
              <a:rPr lang="en-US" sz="1200" b="1" dirty="0">
                <a:solidFill>
                  <a:srgbClr val="43691B"/>
                </a:solidFill>
                <a:latin typeface="Calibri" pitchFamily="34" charset="0"/>
                <a:ea typeface="Calibri" pitchFamily="34" charset="-122"/>
                <a:cs typeface="Calibri" pitchFamily="34" charset="-120"/>
              </a:rPr>
              <a:t>Internship Domain</a:t>
            </a:r>
            <a:endParaRPr lang="en-US" sz="1200" dirty="0"/>
          </a:p>
        </p:txBody>
      </p:sp>
      <p:sp>
        <p:nvSpPr>
          <p:cNvPr id="25" name="Text 18"/>
          <p:cNvSpPr/>
          <p:nvPr/>
        </p:nvSpPr>
        <p:spPr>
          <a:xfrm>
            <a:off x="5166360" y="4517136"/>
            <a:ext cx="6309360" cy="3657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Data Analytics &amp; Forensic Technology</a:t>
            </a:r>
            <a:endParaRPr lang="en-US" sz="1500" dirty="0"/>
          </a:p>
        </p:txBody>
      </p:sp>
      <p:sp>
        <p:nvSpPr>
          <p:cNvPr id="26" name="Shape 19"/>
          <p:cNvSpPr/>
          <p:nvPr/>
        </p:nvSpPr>
        <p:spPr>
          <a:xfrm>
            <a:off x="4434840" y="5166360"/>
            <a:ext cx="502920" cy="502920"/>
          </a:xfrm>
          <a:prstGeom prst="ellipse">
            <a:avLst/>
          </a:prstGeom>
          <a:solidFill>
            <a:srgbClr val="EEF2E7"/>
          </a:solidFill>
          <a:ln/>
        </p:spPr>
      </p:sp>
      <p:pic>
        <p:nvPicPr>
          <p:cNvPr id="27" name="Image 5" descr="/home/claude/icons/calendar_dark.png">    </p:cNvPr>
          <p:cNvPicPr>
            <a:picLocks noChangeAspect="1"/>
          </p:cNvPicPr>
          <p:nvPr/>
        </p:nvPicPr>
        <p:blipFill>
          <a:blip r:embed="rId6"/>
          <a:stretch>
            <a:fillRect/>
          </a:stretch>
        </p:blipFill>
        <p:spPr>
          <a:xfrm>
            <a:off x="4565599" y="5297119"/>
            <a:ext cx="241402" cy="241402"/>
          </a:xfrm>
          <a:prstGeom prst="rect">
            <a:avLst/>
          </a:prstGeom>
        </p:spPr>
      </p:pic>
      <p:sp>
        <p:nvSpPr>
          <p:cNvPr id="28" name="Text 20"/>
          <p:cNvSpPr/>
          <p:nvPr/>
        </p:nvSpPr>
        <p:spPr>
          <a:xfrm>
            <a:off x="5166360" y="5138928"/>
            <a:ext cx="5943600" cy="274320"/>
          </a:xfrm>
          <a:prstGeom prst="rect">
            <a:avLst/>
          </a:prstGeom>
          <a:noFill/>
          <a:ln/>
        </p:spPr>
        <p:txBody>
          <a:bodyPr wrap="square" rtlCol="0" anchor="ctr"/>
          <a:lstStyle/>
          <a:p>
            <a:pPr indent="0" marL="0">
              <a:buNone/>
            </a:pPr>
            <a:r>
              <a:rPr lang="en-US" sz="1200" b="1" dirty="0">
                <a:solidFill>
                  <a:srgbClr val="43691B"/>
                </a:solidFill>
                <a:latin typeface="Calibri" pitchFamily="34" charset="0"/>
                <a:ea typeface="Calibri" pitchFamily="34" charset="-122"/>
                <a:cs typeface="Calibri" pitchFamily="34" charset="-120"/>
              </a:rPr>
              <a:t>Duration</a:t>
            </a:r>
            <a:endParaRPr lang="en-US" sz="1200" dirty="0"/>
          </a:p>
        </p:txBody>
      </p:sp>
      <p:sp>
        <p:nvSpPr>
          <p:cNvPr id="29" name="Text 21"/>
          <p:cNvSpPr/>
          <p:nvPr/>
        </p:nvSpPr>
        <p:spPr>
          <a:xfrm>
            <a:off x="5166360" y="5385816"/>
            <a:ext cx="6309360" cy="365760"/>
          </a:xfrm>
          <a:prstGeom prst="rect">
            <a:avLst/>
          </a:prstGeom>
          <a:noFill/>
          <a:ln/>
        </p:spPr>
        <p:txBody>
          <a:bodyPr wrap="square" rtlCol="0" anchor="ctr"/>
          <a:lstStyle/>
          <a:p>
            <a:pPr indent="0" marL="0">
              <a:buNone/>
            </a:pPr>
            <a:r>
              <a:rPr lang="en-US" sz="1500" dirty="0">
                <a:solidFill>
                  <a:srgbClr val="1A1A1A"/>
                </a:solidFill>
                <a:latin typeface="Calibri" pitchFamily="34" charset="0"/>
                <a:ea typeface="Calibri" pitchFamily="34" charset="-122"/>
                <a:cs typeface="Calibri" pitchFamily="34" charset="-120"/>
              </a:rPr>
              <a:t>Self-paced Virtual Simulation | Completed September 2026</a:t>
            </a:r>
            <a:endParaRPr lang="en-US" sz="1500" dirty="0"/>
          </a:p>
        </p:txBody>
      </p:sp>
      <p:sp>
        <p:nvSpPr>
          <p:cNvPr id="30" name="Text 22"/>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31" name="Text 23"/>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2"/>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457200" y="777240"/>
            <a:ext cx="822960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Deloitte &amp; Forage</a:t>
            </a:r>
            <a:endParaRPr lang="en-US" sz="3200" dirty="0"/>
          </a:p>
        </p:txBody>
      </p:sp>
      <p:sp>
        <p:nvSpPr>
          <p:cNvPr id="4" name="Shape 2"/>
          <p:cNvSpPr/>
          <p:nvPr/>
        </p:nvSpPr>
        <p:spPr>
          <a:xfrm>
            <a:off x="502920" y="1600200"/>
            <a:ext cx="11155680" cy="1234440"/>
          </a:xfrm>
          <a:prstGeom prst="rect">
            <a:avLst/>
          </a:prstGeom>
          <a:solidFill>
            <a:srgbClr val="FFFFFF"/>
          </a:solidFill>
          <a:ln/>
          <a:effectLst>
            <a:outerShdw sx="100000" sy="100000" kx="0" ky="0" algn="bl" rotWithShape="0" blurRad="76200" dist="25400" dir="5400000">
              <a:srgbClr val="999999">
                <a:alpha val="25000"/>
              </a:srgbClr>
            </a:outerShdw>
          </a:effectLst>
        </p:spPr>
      </p:sp>
      <p:sp>
        <p:nvSpPr>
          <p:cNvPr id="5" name="Text 3"/>
          <p:cNvSpPr/>
          <p:nvPr/>
        </p:nvSpPr>
        <p:spPr>
          <a:xfrm>
            <a:off x="777240" y="1691640"/>
            <a:ext cx="10607040" cy="1051560"/>
          </a:xfrm>
          <a:prstGeom prst="rect">
            <a:avLst/>
          </a:prstGeom>
          <a:noFill/>
          <a:ln/>
        </p:spPr>
        <p:txBody>
          <a:bodyPr wrap="square" rtlCol="0" anchor="ctr"/>
          <a:lstStyle/>
          <a:p>
            <a:pPr indent="0" marL="0">
              <a:buNone/>
            </a:pPr>
            <a:r>
              <a:rPr lang="en-US" sz="1350" dirty="0">
                <a:solidFill>
                  <a:srgbClr val="2E2E2E"/>
                </a:solidFill>
                <a:latin typeface="Calibri" pitchFamily="34" charset="0"/>
                <a:ea typeface="Calibri" pitchFamily="34" charset="-122"/>
                <a:cs typeface="Calibri" pitchFamily="34" charset="-120"/>
              </a:rPr>
              <a:t>Deloitte is one of the world's leading professional services networks and a “Big Four” accounting and consulting firm, operating across audit, tax, risk advisory, enterprise technology, and strategy consulting. Deloitte partners with Forage, a virtual work-experience platform, to deliver open-access Job Simulations that let students worldwide practise real, on-the-job tasks – free of cost and selection rounds.</a:t>
            </a:r>
            <a:endParaRPr lang="en-US" sz="1350" dirty="0"/>
          </a:p>
        </p:txBody>
      </p:sp>
      <p:sp>
        <p:nvSpPr>
          <p:cNvPr id="6" name="Shape 4"/>
          <p:cNvSpPr/>
          <p:nvPr/>
        </p:nvSpPr>
        <p:spPr>
          <a:xfrm>
            <a:off x="502920" y="3200400"/>
            <a:ext cx="3611880" cy="26517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7" name="Shape 5"/>
          <p:cNvSpPr/>
          <p:nvPr/>
        </p:nvSpPr>
        <p:spPr>
          <a:xfrm>
            <a:off x="1851660" y="3520440"/>
            <a:ext cx="914400" cy="914400"/>
          </a:xfrm>
          <a:prstGeom prst="ellipse">
            <a:avLst/>
          </a:prstGeom>
          <a:solidFill>
            <a:srgbClr val="43691B"/>
          </a:solidFill>
          <a:ln/>
        </p:spPr>
      </p:sp>
      <p:pic>
        <p:nvPicPr>
          <p:cNvPr id="8" name="Image 0" descr="/home/claude/icons/flag.png">    </p:cNvPr>
          <p:cNvPicPr>
            <a:picLocks noChangeAspect="1"/>
          </p:cNvPicPr>
          <p:nvPr/>
        </p:nvPicPr>
        <p:blipFill>
          <a:blip r:embed="rId1"/>
          <a:stretch>
            <a:fillRect/>
          </a:stretch>
        </p:blipFill>
        <p:spPr>
          <a:xfrm>
            <a:off x="2089404" y="3758184"/>
            <a:ext cx="438912" cy="438912"/>
          </a:xfrm>
          <a:prstGeom prst="rect">
            <a:avLst/>
          </a:prstGeom>
        </p:spPr>
      </p:pic>
      <p:sp>
        <p:nvSpPr>
          <p:cNvPr id="9" name="Text 6"/>
          <p:cNvSpPr/>
          <p:nvPr/>
        </p:nvSpPr>
        <p:spPr>
          <a:xfrm>
            <a:off x="731520" y="4572000"/>
            <a:ext cx="3154680" cy="411480"/>
          </a:xfrm>
          <a:prstGeom prst="rect">
            <a:avLst/>
          </a:prstGeom>
          <a:noFill/>
          <a:ln/>
        </p:spPr>
        <p:txBody>
          <a:bodyPr wrap="square"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Deloitte Australia</a:t>
            </a:r>
            <a:endParaRPr lang="en-US" sz="1500" dirty="0"/>
          </a:p>
        </p:txBody>
      </p:sp>
      <p:sp>
        <p:nvSpPr>
          <p:cNvPr id="10" name="Text 7"/>
          <p:cNvSpPr/>
          <p:nvPr/>
        </p:nvSpPr>
        <p:spPr>
          <a:xfrm>
            <a:off x="777240" y="5029200"/>
            <a:ext cx="3063240" cy="777240"/>
          </a:xfrm>
          <a:prstGeom prst="rect">
            <a:avLst/>
          </a:prstGeom>
          <a:noFill/>
          <a:ln/>
        </p:spPr>
        <p:txBody>
          <a:bodyPr wrap="square" rtlCol="0" anchor="ctr"/>
          <a:lstStyle/>
          <a:p>
            <a:pPr algn="ctr" indent="0" marL="0">
              <a:buNone/>
            </a:pPr>
            <a:r>
              <a:rPr lang="en-US" sz="1150" dirty="0">
                <a:solidFill>
                  <a:srgbClr val="6E6E6E"/>
                </a:solidFill>
                <a:latin typeface="Calibri" pitchFamily="34" charset="0"/>
                <a:ea typeface="Calibri" pitchFamily="34" charset="-122"/>
                <a:cs typeface="Calibri" pitchFamily="34" charset="-120"/>
              </a:rPr>
              <a:t>Simulation designed and supported by Deloitte Australia's data-analytics practice.</a:t>
            </a:r>
            <a:endParaRPr lang="en-US" sz="1150" dirty="0"/>
          </a:p>
        </p:txBody>
      </p:sp>
      <p:sp>
        <p:nvSpPr>
          <p:cNvPr id="11" name="Shape 8"/>
          <p:cNvSpPr/>
          <p:nvPr/>
        </p:nvSpPr>
        <p:spPr>
          <a:xfrm>
            <a:off x="4297680" y="3200400"/>
            <a:ext cx="3611880" cy="26517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12" name="Shape 9"/>
          <p:cNvSpPr/>
          <p:nvPr/>
        </p:nvSpPr>
        <p:spPr>
          <a:xfrm>
            <a:off x="5646420" y="3520440"/>
            <a:ext cx="914400" cy="914400"/>
          </a:xfrm>
          <a:prstGeom prst="ellipse">
            <a:avLst/>
          </a:prstGeom>
          <a:solidFill>
            <a:srgbClr val="43691B"/>
          </a:solidFill>
          <a:ln/>
        </p:spPr>
      </p:sp>
      <p:pic>
        <p:nvPicPr>
          <p:cNvPr id="13" name="Image 1" descr="/home/claude/icons/globe.png">    </p:cNvPr>
          <p:cNvPicPr>
            <a:picLocks noChangeAspect="1"/>
          </p:cNvPicPr>
          <p:nvPr/>
        </p:nvPicPr>
        <p:blipFill>
          <a:blip r:embed="rId2"/>
          <a:stretch>
            <a:fillRect/>
          </a:stretch>
        </p:blipFill>
        <p:spPr>
          <a:xfrm>
            <a:off x="5884164" y="3758184"/>
            <a:ext cx="438912" cy="438912"/>
          </a:xfrm>
          <a:prstGeom prst="rect">
            <a:avLst/>
          </a:prstGeom>
        </p:spPr>
      </p:pic>
      <p:sp>
        <p:nvSpPr>
          <p:cNvPr id="14" name="Text 10"/>
          <p:cNvSpPr/>
          <p:nvPr/>
        </p:nvSpPr>
        <p:spPr>
          <a:xfrm>
            <a:off x="4526280" y="4572000"/>
            <a:ext cx="3154680" cy="411480"/>
          </a:xfrm>
          <a:prstGeom prst="rect">
            <a:avLst/>
          </a:prstGeom>
          <a:noFill/>
          <a:ln/>
        </p:spPr>
        <p:txBody>
          <a:bodyPr wrap="square"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Forage Platform</a:t>
            </a:r>
            <a:endParaRPr lang="en-US" sz="1500" dirty="0"/>
          </a:p>
        </p:txBody>
      </p:sp>
      <p:sp>
        <p:nvSpPr>
          <p:cNvPr id="15" name="Text 11"/>
          <p:cNvSpPr/>
          <p:nvPr/>
        </p:nvSpPr>
        <p:spPr>
          <a:xfrm>
            <a:off x="4572000" y="5029200"/>
            <a:ext cx="3063240" cy="777240"/>
          </a:xfrm>
          <a:prstGeom prst="rect">
            <a:avLst/>
          </a:prstGeom>
          <a:noFill/>
          <a:ln/>
        </p:spPr>
        <p:txBody>
          <a:bodyPr wrap="square" rtlCol="0" anchor="ctr"/>
          <a:lstStyle/>
          <a:p>
            <a:pPr algn="ctr" indent="0" marL="0">
              <a:buNone/>
            </a:pPr>
            <a:r>
              <a:rPr lang="en-US" sz="1150" dirty="0">
                <a:solidFill>
                  <a:srgbClr val="6E6E6E"/>
                </a:solidFill>
                <a:latin typeface="Calibri" pitchFamily="34" charset="0"/>
                <a:ea typeface="Calibri" pitchFamily="34" charset="-122"/>
                <a:cs typeface="Calibri" pitchFamily="34" charset="-120"/>
              </a:rPr>
              <a:t>Hosted on Forage – a free, self-paced virtual work-experience programme.</a:t>
            </a:r>
            <a:endParaRPr lang="en-US" sz="1150" dirty="0"/>
          </a:p>
        </p:txBody>
      </p:sp>
      <p:sp>
        <p:nvSpPr>
          <p:cNvPr id="16" name="Shape 12"/>
          <p:cNvSpPr/>
          <p:nvPr/>
        </p:nvSpPr>
        <p:spPr>
          <a:xfrm>
            <a:off x="8092440" y="3200400"/>
            <a:ext cx="3611880" cy="26517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17" name="Shape 13"/>
          <p:cNvSpPr/>
          <p:nvPr/>
        </p:nvSpPr>
        <p:spPr>
          <a:xfrm>
            <a:off x="9441180" y="3520440"/>
            <a:ext cx="914400" cy="914400"/>
          </a:xfrm>
          <a:prstGeom prst="ellipse">
            <a:avLst/>
          </a:prstGeom>
          <a:solidFill>
            <a:srgbClr val="43691B"/>
          </a:solidFill>
          <a:ln/>
        </p:spPr>
      </p:sp>
      <p:pic>
        <p:nvPicPr>
          <p:cNvPr id="18" name="Image 2" descr="/home/claude/icons/award.png">    </p:cNvPr>
          <p:cNvPicPr>
            <a:picLocks noChangeAspect="1"/>
          </p:cNvPicPr>
          <p:nvPr/>
        </p:nvPicPr>
        <p:blipFill>
          <a:blip r:embed="rId3"/>
          <a:stretch>
            <a:fillRect/>
          </a:stretch>
        </p:blipFill>
        <p:spPr>
          <a:xfrm>
            <a:off x="9678924" y="3758184"/>
            <a:ext cx="438912" cy="438912"/>
          </a:xfrm>
          <a:prstGeom prst="rect">
            <a:avLst/>
          </a:prstGeom>
        </p:spPr>
      </p:pic>
      <p:sp>
        <p:nvSpPr>
          <p:cNvPr id="19" name="Text 14"/>
          <p:cNvSpPr/>
          <p:nvPr/>
        </p:nvSpPr>
        <p:spPr>
          <a:xfrm>
            <a:off x="8321040" y="4572000"/>
            <a:ext cx="3154680" cy="411480"/>
          </a:xfrm>
          <a:prstGeom prst="rect">
            <a:avLst/>
          </a:prstGeom>
          <a:noFill/>
          <a:ln/>
        </p:spPr>
        <p:txBody>
          <a:bodyPr wrap="square"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Verified Certificate</a:t>
            </a:r>
            <a:endParaRPr lang="en-US" sz="1500" dirty="0"/>
          </a:p>
        </p:txBody>
      </p:sp>
      <p:sp>
        <p:nvSpPr>
          <p:cNvPr id="20" name="Text 15"/>
          <p:cNvSpPr/>
          <p:nvPr/>
        </p:nvSpPr>
        <p:spPr>
          <a:xfrm>
            <a:off x="8366760" y="5029200"/>
            <a:ext cx="3063240" cy="777240"/>
          </a:xfrm>
          <a:prstGeom prst="rect">
            <a:avLst/>
          </a:prstGeom>
          <a:noFill/>
          <a:ln/>
        </p:spPr>
        <p:txBody>
          <a:bodyPr wrap="square" rtlCol="0" anchor="ctr"/>
          <a:lstStyle/>
          <a:p>
            <a:pPr algn="ctr" indent="0" marL="0">
              <a:buNone/>
            </a:pPr>
            <a:r>
              <a:rPr lang="en-US" sz="1150" dirty="0">
                <a:solidFill>
                  <a:srgbClr val="6E6E6E"/>
                </a:solidFill>
                <a:latin typeface="Calibri" pitchFamily="34" charset="0"/>
                <a:ea typeface="Calibri" pitchFamily="34" charset="-122"/>
                <a:cs typeface="Calibri" pitchFamily="34" charset="-120"/>
              </a:rPr>
              <a:t>Certificate of Completion verified by Deloitte's Chief HR Officer, Tina McCreery.</a:t>
            </a:r>
            <a:endParaRPr lang="en-US" sz="1150" dirty="0"/>
          </a:p>
        </p:txBody>
      </p:sp>
      <p:sp>
        <p:nvSpPr>
          <p:cNvPr id="21" name="Text 16"/>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22" name="Text 17"/>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Bridging Theory and Applied Analytics</a:t>
            </a:r>
            <a:endParaRPr lang="en-US" sz="3000" dirty="0"/>
          </a:p>
        </p:txBody>
      </p:sp>
      <p:sp>
        <p:nvSpPr>
          <p:cNvPr id="4" name="Shape 2"/>
          <p:cNvSpPr/>
          <p:nvPr/>
        </p:nvSpPr>
        <p:spPr>
          <a:xfrm>
            <a:off x="502920" y="1600200"/>
            <a:ext cx="11155680" cy="1417320"/>
          </a:xfrm>
          <a:prstGeom prst="rect">
            <a:avLst/>
          </a:prstGeom>
          <a:solidFill>
            <a:srgbClr val="EEF2E7"/>
          </a:solidFill>
          <a:ln/>
        </p:spPr>
      </p:sp>
      <p:sp>
        <p:nvSpPr>
          <p:cNvPr id="5" name="Text 3"/>
          <p:cNvSpPr/>
          <p:nvPr/>
        </p:nvSpPr>
        <p:spPr>
          <a:xfrm>
            <a:off x="777240" y="1737360"/>
            <a:ext cx="10607040" cy="1143000"/>
          </a:xfrm>
          <a:prstGeom prst="rect">
            <a:avLst/>
          </a:prstGeom>
          <a:noFill/>
          <a:ln/>
        </p:spPr>
        <p:txBody>
          <a:bodyPr wrap="square" rtlCol="0" anchor="ctr"/>
          <a:lstStyle/>
          <a:p>
            <a:pPr indent="0" marL="0">
              <a:buNone/>
            </a:pPr>
            <a:r>
              <a:rPr lang="en-US" sz="1350" dirty="0">
                <a:solidFill>
                  <a:srgbClr val="2E2E2E"/>
                </a:solidFill>
                <a:latin typeface="Calibri" pitchFamily="34" charset="0"/>
                <a:ea typeface="Calibri" pitchFamily="34" charset="-122"/>
                <a:cs typeface="Calibri" pitchFamily="34" charset="-120"/>
              </a:rPr>
              <a:t>Although many engineering students learn the theoretical foundations of data analytics and statistics in coursework, very few get structured, hands-on exposure to applying these concepts to messy, real-world business datasets in a consulting context. Concepts such as data unification, dashboard design, and forensic data analysis are often understood only theoretically – with little practice cleaning data, building visualisations, and defending evidence-based conclusions.</a:t>
            </a:r>
            <a:endParaRPr lang="en-US" sz="1350" dirty="0"/>
          </a:p>
        </p:txBody>
      </p:sp>
      <p:sp>
        <p:nvSpPr>
          <p:cNvPr id="6" name="Text 4"/>
          <p:cNvSpPr/>
          <p:nvPr/>
        </p:nvSpPr>
        <p:spPr>
          <a:xfrm>
            <a:off x="502920" y="3246120"/>
            <a:ext cx="105156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This internship addressed that gap – practically learning the full analytics-to-forensics workflow:</a:t>
            </a:r>
            <a:endParaRPr lang="en-US" sz="1400" dirty="0"/>
          </a:p>
        </p:txBody>
      </p:sp>
      <p:sp>
        <p:nvSpPr>
          <p:cNvPr id="7" name="Shape 5"/>
          <p:cNvSpPr/>
          <p:nvPr/>
        </p:nvSpPr>
        <p:spPr>
          <a:xfrm>
            <a:off x="502920" y="3794760"/>
            <a:ext cx="2606040" cy="1371600"/>
          </a:xfrm>
          <a:prstGeom prst="rect">
            <a:avLst/>
          </a:prstGeom>
          <a:solidFill>
            <a:srgbClr val="1A1A1A"/>
          </a:solidFill>
          <a:ln/>
        </p:spPr>
      </p:sp>
      <p:sp>
        <p:nvSpPr>
          <p:cNvPr id="8" name="Shape 6"/>
          <p:cNvSpPr/>
          <p:nvPr/>
        </p:nvSpPr>
        <p:spPr>
          <a:xfrm>
            <a:off x="1440180" y="3977640"/>
            <a:ext cx="731520" cy="731520"/>
          </a:xfrm>
          <a:prstGeom prst="ellipse">
            <a:avLst/>
          </a:prstGeom>
          <a:solidFill>
            <a:srgbClr val="43691B"/>
          </a:solidFill>
          <a:ln/>
        </p:spPr>
      </p:sp>
      <p:pic>
        <p:nvPicPr>
          <p:cNvPr id="9" name="Image 0" descr="/home/claude/icons/database.png">    </p:cNvPr>
          <p:cNvPicPr>
            <a:picLocks noChangeAspect="1"/>
          </p:cNvPicPr>
          <p:nvPr/>
        </p:nvPicPr>
        <p:blipFill>
          <a:blip r:embed="rId1"/>
          <a:stretch>
            <a:fillRect/>
          </a:stretch>
        </p:blipFill>
        <p:spPr>
          <a:xfrm>
            <a:off x="1630375" y="4167835"/>
            <a:ext cx="351130" cy="351130"/>
          </a:xfrm>
          <a:prstGeom prst="rect">
            <a:avLst/>
          </a:prstGeom>
        </p:spPr>
      </p:pic>
      <p:sp>
        <p:nvSpPr>
          <p:cNvPr id="10" name="Text 7"/>
          <p:cNvSpPr/>
          <p:nvPr/>
        </p:nvSpPr>
        <p:spPr>
          <a:xfrm>
            <a:off x="594360" y="4754880"/>
            <a:ext cx="242316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Unify Data</a:t>
            </a:r>
            <a:endParaRPr lang="en-US" sz="1300" dirty="0"/>
          </a:p>
        </p:txBody>
      </p:sp>
      <p:sp>
        <p:nvSpPr>
          <p:cNvPr id="11" name="Text 8"/>
          <p:cNvSpPr/>
          <p:nvPr/>
        </p:nvSpPr>
        <p:spPr>
          <a:xfrm>
            <a:off x="3108960" y="3794760"/>
            <a:ext cx="320040" cy="1371600"/>
          </a:xfrm>
          <a:prstGeom prst="rect">
            <a:avLst/>
          </a:prstGeom>
          <a:noFill/>
          <a:ln/>
        </p:spPr>
        <p:txBody>
          <a:bodyPr wrap="square" rtlCol="0" anchor="ctr"/>
          <a:lstStyle/>
          <a:p>
            <a:pPr algn="ctr" indent="0" marL="0">
              <a:buNone/>
            </a:pPr>
            <a:r>
              <a:rPr lang="en-US" sz="2200" b="1" dirty="0">
                <a:solidFill>
                  <a:srgbClr val="43691B"/>
                </a:solidFill>
              </a:rPr>
              <a:t>→</a:t>
            </a:r>
            <a:endParaRPr lang="en-US" sz="2200" dirty="0"/>
          </a:p>
        </p:txBody>
      </p:sp>
      <p:sp>
        <p:nvSpPr>
          <p:cNvPr id="12" name="Shape 9"/>
          <p:cNvSpPr/>
          <p:nvPr/>
        </p:nvSpPr>
        <p:spPr>
          <a:xfrm>
            <a:off x="3429000" y="3794760"/>
            <a:ext cx="2606040" cy="1371600"/>
          </a:xfrm>
          <a:prstGeom prst="rect">
            <a:avLst/>
          </a:prstGeom>
          <a:solidFill>
            <a:srgbClr val="1A1A1A"/>
          </a:solidFill>
          <a:ln/>
        </p:spPr>
      </p:sp>
      <p:sp>
        <p:nvSpPr>
          <p:cNvPr id="13" name="Shape 10"/>
          <p:cNvSpPr/>
          <p:nvPr/>
        </p:nvSpPr>
        <p:spPr>
          <a:xfrm>
            <a:off x="4366260" y="3977640"/>
            <a:ext cx="731520" cy="731520"/>
          </a:xfrm>
          <a:prstGeom prst="ellipse">
            <a:avLst/>
          </a:prstGeom>
          <a:solidFill>
            <a:srgbClr val="43691B"/>
          </a:solidFill>
          <a:ln/>
        </p:spPr>
      </p:sp>
      <p:pic>
        <p:nvPicPr>
          <p:cNvPr id="14" name="Image 1" descr="/home/claude/icons/barchart.png">    </p:cNvPr>
          <p:cNvPicPr>
            <a:picLocks noChangeAspect="1"/>
          </p:cNvPicPr>
          <p:nvPr/>
        </p:nvPicPr>
        <p:blipFill>
          <a:blip r:embed="rId2"/>
          <a:stretch>
            <a:fillRect/>
          </a:stretch>
        </p:blipFill>
        <p:spPr>
          <a:xfrm>
            <a:off x="4556455" y="4167835"/>
            <a:ext cx="351130" cy="351130"/>
          </a:xfrm>
          <a:prstGeom prst="rect">
            <a:avLst/>
          </a:prstGeom>
        </p:spPr>
      </p:pic>
      <p:sp>
        <p:nvSpPr>
          <p:cNvPr id="15" name="Text 11"/>
          <p:cNvSpPr/>
          <p:nvPr/>
        </p:nvSpPr>
        <p:spPr>
          <a:xfrm>
            <a:off x="3520440" y="4754880"/>
            <a:ext cx="242316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Analyse Trends</a:t>
            </a:r>
            <a:endParaRPr lang="en-US" sz="1300" dirty="0"/>
          </a:p>
        </p:txBody>
      </p:sp>
      <p:sp>
        <p:nvSpPr>
          <p:cNvPr id="16" name="Text 12"/>
          <p:cNvSpPr/>
          <p:nvPr/>
        </p:nvSpPr>
        <p:spPr>
          <a:xfrm>
            <a:off x="6035040" y="3794760"/>
            <a:ext cx="320040" cy="1371600"/>
          </a:xfrm>
          <a:prstGeom prst="rect">
            <a:avLst/>
          </a:prstGeom>
          <a:noFill/>
          <a:ln/>
        </p:spPr>
        <p:txBody>
          <a:bodyPr wrap="square" rtlCol="0" anchor="ctr"/>
          <a:lstStyle/>
          <a:p>
            <a:pPr algn="ctr" indent="0" marL="0">
              <a:buNone/>
            </a:pPr>
            <a:r>
              <a:rPr lang="en-US" sz="2200" b="1" dirty="0">
                <a:solidFill>
                  <a:srgbClr val="43691B"/>
                </a:solidFill>
              </a:rPr>
              <a:t>→</a:t>
            </a:r>
            <a:endParaRPr lang="en-US" sz="2200" dirty="0"/>
          </a:p>
        </p:txBody>
      </p:sp>
      <p:sp>
        <p:nvSpPr>
          <p:cNvPr id="17" name="Shape 13"/>
          <p:cNvSpPr/>
          <p:nvPr/>
        </p:nvSpPr>
        <p:spPr>
          <a:xfrm>
            <a:off x="6355080" y="3794760"/>
            <a:ext cx="2606040" cy="1371600"/>
          </a:xfrm>
          <a:prstGeom prst="rect">
            <a:avLst/>
          </a:prstGeom>
          <a:solidFill>
            <a:srgbClr val="1A1A1A"/>
          </a:solidFill>
          <a:ln/>
        </p:spPr>
      </p:sp>
      <p:sp>
        <p:nvSpPr>
          <p:cNvPr id="18" name="Shape 14"/>
          <p:cNvSpPr/>
          <p:nvPr/>
        </p:nvSpPr>
        <p:spPr>
          <a:xfrm>
            <a:off x="7292340" y="3977640"/>
            <a:ext cx="731520" cy="731520"/>
          </a:xfrm>
          <a:prstGeom prst="ellipse">
            <a:avLst/>
          </a:prstGeom>
          <a:solidFill>
            <a:srgbClr val="43691B"/>
          </a:solidFill>
          <a:ln/>
        </p:spPr>
      </p:sp>
      <p:pic>
        <p:nvPicPr>
          <p:cNvPr id="19" name="Image 2" descr="/home/claude/icons/shield.png">    </p:cNvPr>
          <p:cNvPicPr>
            <a:picLocks noChangeAspect="1"/>
          </p:cNvPicPr>
          <p:nvPr/>
        </p:nvPicPr>
        <p:blipFill>
          <a:blip r:embed="rId3"/>
          <a:stretch>
            <a:fillRect/>
          </a:stretch>
        </p:blipFill>
        <p:spPr>
          <a:xfrm>
            <a:off x="7482535" y="4167835"/>
            <a:ext cx="351130" cy="351130"/>
          </a:xfrm>
          <a:prstGeom prst="rect">
            <a:avLst/>
          </a:prstGeom>
        </p:spPr>
      </p:pic>
      <p:sp>
        <p:nvSpPr>
          <p:cNvPr id="20" name="Text 15"/>
          <p:cNvSpPr/>
          <p:nvPr/>
        </p:nvSpPr>
        <p:spPr>
          <a:xfrm>
            <a:off x="6446520" y="4754880"/>
            <a:ext cx="242316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Forensic Investigation</a:t>
            </a:r>
            <a:endParaRPr lang="en-US" sz="1300" dirty="0"/>
          </a:p>
        </p:txBody>
      </p:sp>
      <p:sp>
        <p:nvSpPr>
          <p:cNvPr id="21" name="Text 16"/>
          <p:cNvSpPr/>
          <p:nvPr/>
        </p:nvSpPr>
        <p:spPr>
          <a:xfrm>
            <a:off x="8961120" y="3794760"/>
            <a:ext cx="320040" cy="1371600"/>
          </a:xfrm>
          <a:prstGeom prst="rect">
            <a:avLst/>
          </a:prstGeom>
          <a:noFill/>
          <a:ln/>
        </p:spPr>
        <p:txBody>
          <a:bodyPr wrap="square" rtlCol="0" anchor="ctr"/>
          <a:lstStyle/>
          <a:p>
            <a:pPr algn="ctr" indent="0" marL="0">
              <a:buNone/>
            </a:pPr>
            <a:r>
              <a:rPr lang="en-US" sz="2200" b="1" dirty="0">
                <a:solidFill>
                  <a:srgbClr val="43691B"/>
                </a:solidFill>
              </a:rPr>
              <a:t>→</a:t>
            </a:r>
            <a:endParaRPr lang="en-US" sz="2200" dirty="0"/>
          </a:p>
        </p:txBody>
      </p:sp>
      <p:sp>
        <p:nvSpPr>
          <p:cNvPr id="22" name="Shape 17"/>
          <p:cNvSpPr/>
          <p:nvPr/>
        </p:nvSpPr>
        <p:spPr>
          <a:xfrm>
            <a:off x="9281160" y="3794760"/>
            <a:ext cx="2606040" cy="1371600"/>
          </a:xfrm>
          <a:prstGeom prst="rect">
            <a:avLst/>
          </a:prstGeom>
          <a:solidFill>
            <a:srgbClr val="1A1A1A"/>
          </a:solidFill>
          <a:ln/>
        </p:spPr>
      </p:sp>
      <p:sp>
        <p:nvSpPr>
          <p:cNvPr id="23" name="Shape 18"/>
          <p:cNvSpPr/>
          <p:nvPr/>
        </p:nvSpPr>
        <p:spPr>
          <a:xfrm>
            <a:off x="10218420" y="3977640"/>
            <a:ext cx="731520" cy="731520"/>
          </a:xfrm>
          <a:prstGeom prst="ellipse">
            <a:avLst/>
          </a:prstGeom>
          <a:solidFill>
            <a:srgbClr val="43691B"/>
          </a:solidFill>
          <a:ln/>
        </p:spPr>
      </p:sp>
      <p:pic>
        <p:nvPicPr>
          <p:cNvPr id="24" name="Image 3" descr="/home/claude/icons/check.png">    </p:cNvPr>
          <p:cNvPicPr>
            <a:picLocks noChangeAspect="1"/>
          </p:cNvPicPr>
          <p:nvPr/>
        </p:nvPicPr>
        <p:blipFill>
          <a:blip r:embed="rId4"/>
          <a:stretch>
            <a:fillRect/>
          </a:stretch>
        </p:blipFill>
        <p:spPr>
          <a:xfrm>
            <a:off x="10408615" y="4167835"/>
            <a:ext cx="351130" cy="351130"/>
          </a:xfrm>
          <a:prstGeom prst="rect">
            <a:avLst/>
          </a:prstGeom>
        </p:spPr>
      </p:pic>
      <p:sp>
        <p:nvSpPr>
          <p:cNvPr id="25" name="Text 19"/>
          <p:cNvSpPr/>
          <p:nvPr/>
        </p:nvSpPr>
        <p:spPr>
          <a:xfrm>
            <a:off x="9372600" y="4754880"/>
            <a:ext cx="242316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Report Findings</a:t>
            </a:r>
            <a:endParaRPr lang="en-US" sz="1300" dirty="0"/>
          </a:p>
        </p:txBody>
      </p:sp>
      <p:sp>
        <p:nvSpPr>
          <p:cNvPr id="26" name="Text 2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27" name="Text 21"/>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2"/>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the Simulation Set Out to Achieve</a:t>
            </a:r>
            <a:endParaRPr lang="en-US" sz="3000" dirty="0"/>
          </a:p>
        </p:txBody>
      </p:sp>
      <p:sp>
        <p:nvSpPr>
          <p:cNvPr id="4" name="Shape 2"/>
          <p:cNvSpPr/>
          <p:nvPr/>
        </p:nvSpPr>
        <p:spPr>
          <a:xfrm>
            <a:off x="502920" y="169164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5" name="Shape 3"/>
          <p:cNvSpPr/>
          <p:nvPr/>
        </p:nvSpPr>
        <p:spPr>
          <a:xfrm>
            <a:off x="731520" y="1920240"/>
            <a:ext cx="548640" cy="548640"/>
          </a:xfrm>
          <a:prstGeom prst="ellipse">
            <a:avLst/>
          </a:prstGeom>
          <a:solidFill>
            <a:srgbClr val="EEF2E7"/>
          </a:solidFill>
          <a:ln/>
        </p:spPr>
      </p:sp>
      <p:pic>
        <p:nvPicPr>
          <p:cNvPr id="6" name="Image 0" descr="/home/claude/icons/database_dark.png">    </p:cNvPr>
          <p:cNvPicPr>
            <a:picLocks noChangeAspect="1"/>
          </p:cNvPicPr>
          <p:nvPr/>
        </p:nvPicPr>
        <p:blipFill>
          <a:blip r:embed="rId1"/>
          <a:stretch>
            <a:fillRect/>
          </a:stretch>
        </p:blipFill>
        <p:spPr>
          <a:xfrm>
            <a:off x="874166" y="2062886"/>
            <a:ext cx="263347" cy="263347"/>
          </a:xfrm>
          <a:prstGeom prst="rect">
            <a:avLst/>
          </a:prstGeom>
        </p:spPr>
      </p:pic>
      <p:sp>
        <p:nvSpPr>
          <p:cNvPr id="7" name="Text 4"/>
          <p:cNvSpPr/>
          <p:nvPr/>
        </p:nvSpPr>
        <p:spPr>
          <a:xfrm>
            <a:off x="1417320" y="187452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Unify Raw Data</a:t>
            </a:r>
            <a:endParaRPr lang="en-US" sz="1400" dirty="0"/>
          </a:p>
        </p:txBody>
      </p:sp>
      <p:sp>
        <p:nvSpPr>
          <p:cNvPr id="8" name="Text 5"/>
          <p:cNvSpPr/>
          <p:nvPr/>
        </p:nvSpPr>
        <p:spPr>
          <a:xfrm>
            <a:off x="731520" y="256032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Consolidate telemetry data from four global factories, supplied as one JSON file, into a single dataset.</a:t>
            </a:r>
            <a:endParaRPr lang="en-US" sz="1100" dirty="0"/>
          </a:p>
        </p:txBody>
      </p:sp>
      <p:sp>
        <p:nvSpPr>
          <p:cNvPr id="9" name="Shape 6"/>
          <p:cNvSpPr/>
          <p:nvPr/>
        </p:nvSpPr>
        <p:spPr>
          <a:xfrm>
            <a:off x="4251960" y="169164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10" name="Shape 7"/>
          <p:cNvSpPr/>
          <p:nvPr/>
        </p:nvSpPr>
        <p:spPr>
          <a:xfrm>
            <a:off x="4480560" y="1920240"/>
            <a:ext cx="548640" cy="548640"/>
          </a:xfrm>
          <a:prstGeom prst="ellipse">
            <a:avLst/>
          </a:prstGeom>
          <a:solidFill>
            <a:srgbClr val="EEF2E7"/>
          </a:solidFill>
          <a:ln/>
        </p:spPr>
      </p:sp>
      <p:pic>
        <p:nvPicPr>
          <p:cNvPr id="11" name="Image 1" descr="/home/claude/icons/barchart_dark.png">    </p:cNvPr>
          <p:cNvPicPr>
            <a:picLocks noChangeAspect="1"/>
          </p:cNvPicPr>
          <p:nvPr/>
        </p:nvPicPr>
        <p:blipFill>
          <a:blip r:embed="rId2"/>
          <a:stretch>
            <a:fillRect/>
          </a:stretch>
        </p:blipFill>
        <p:spPr>
          <a:xfrm>
            <a:off x="4623206" y="2062886"/>
            <a:ext cx="263347" cy="263347"/>
          </a:xfrm>
          <a:prstGeom prst="rect">
            <a:avLst/>
          </a:prstGeom>
        </p:spPr>
      </p:pic>
      <p:sp>
        <p:nvSpPr>
          <p:cNvPr id="12" name="Text 8"/>
          <p:cNvSpPr/>
          <p:nvPr/>
        </p:nvSpPr>
        <p:spPr>
          <a:xfrm>
            <a:off x="5166360" y="187452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Identify Trends</a:t>
            </a:r>
            <a:endParaRPr lang="en-US" sz="1400" dirty="0"/>
          </a:p>
        </p:txBody>
      </p:sp>
      <p:sp>
        <p:nvSpPr>
          <p:cNvPr id="13" name="Text 9"/>
          <p:cNvSpPr/>
          <p:nvPr/>
        </p:nvSpPr>
        <p:spPr>
          <a:xfrm>
            <a:off x="4480560" y="256032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Detect operational bottlenecks and downtime patterns from the unified dataset.</a:t>
            </a:r>
            <a:endParaRPr lang="en-US" sz="1100" dirty="0"/>
          </a:p>
        </p:txBody>
      </p:sp>
      <p:sp>
        <p:nvSpPr>
          <p:cNvPr id="14" name="Shape 10"/>
          <p:cNvSpPr/>
          <p:nvPr/>
        </p:nvSpPr>
        <p:spPr>
          <a:xfrm>
            <a:off x="8001000" y="169164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15" name="Shape 11"/>
          <p:cNvSpPr/>
          <p:nvPr/>
        </p:nvSpPr>
        <p:spPr>
          <a:xfrm>
            <a:off x="8229600" y="1920240"/>
            <a:ext cx="548640" cy="548640"/>
          </a:xfrm>
          <a:prstGeom prst="ellipse">
            <a:avLst/>
          </a:prstGeom>
          <a:solidFill>
            <a:srgbClr val="EEF2E7"/>
          </a:solidFill>
          <a:ln/>
        </p:spPr>
      </p:sp>
      <p:pic>
        <p:nvPicPr>
          <p:cNvPr id="16" name="Image 2" descr="/home/claude/icons/piechart_dark.png">    </p:cNvPr>
          <p:cNvPicPr>
            <a:picLocks noChangeAspect="1"/>
          </p:cNvPicPr>
          <p:nvPr/>
        </p:nvPicPr>
        <p:blipFill>
          <a:blip r:embed="rId3"/>
          <a:stretch>
            <a:fillRect/>
          </a:stretch>
        </p:blipFill>
        <p:spPr>
          <a:xfrm>
            <a:off x="8372246" y="2062886"/>
            <a:ext cx="263347" cy="263347"/>
          </a:xfrm>
          <a:prstGeom prst="rect">
            <a:avLst/>
          </a:prstGeom>
        </p:spPr>
      </p:pic>
      <p:sp>
        <p:nvSpPr>
          <p:cNvPr id="17" name="Text 12"/>
          <p:cNvSpPr/>
          <p:nvPr/>
        </p:nvSpPr>
        <p:spPr>
          <a:xfrm>
            <a:off x="8915400" y="187452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Build Dashboards</a:t>
            </a:r>
            <a:endParaRPr lang="en-US" sz="1400" dirty="0"/>
          </a:p>
        </p:txBody>
      </p:sp>
      <p:sp>
        <p:nvSpPr>
          <p:cNvPr id="18" name="Text 13"/>
          <p:cNvSpPr/>
          <p:nvPr/>
        </p:nvSpPr>
        <p:spPr>
          <a:xfrm>
            <a:off x="8229600" y="256032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Design an interactive Tableau dashboard to communicate insights to stakeholders.</a:t>
            </a:r>
            <a:endParaRPr lang="en-US" sz="1100" dirty="0"/>
          </a:p>
        </p:txBody>
      </p:sp>
      <p:sp>
        <p:nvSpPr>
          <p:cNvPr id="19" name="Shape 14"/>
          <p:cNvSpPr/>
          <p:nvPr/>
        </p:nvSpPr>
        <p:spPr>
          <a:xfrm>
            <a:off x="502920" y="388620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20" name="Shape 15"/>
          <p:cNvSpPr/>
          <p:nvPr/>
        </p:nvSpPr>
        <p:spPr>
          <a:xfrm>
            <a:off x="731520" y="4114800"/>
            <a:ext cx="548640" cy="548640"/>
          </a:xfrm>
          <a:prstGeom prst="ellipse">
            <a:avLst/>
          </a:prstGeom>
          <a:solidFill>
            <a:srgbClr val="EEF2E7"/>
          </a:solidFill>
          <a:ln/>
        </p:spPr>
      </p:sp>
      <p:pic>
        <p:nvPicPr>
          <p:cNvPr id="21" name="Image 3" descr="/home/claude/icons/shield_dark.png">    </p:cNvPr>
          <p:cNvPicPr>
            <a:picLocks noChangeAspect="1"/>
          </p:cNvPicPr>
          <p:nvPr/>
        </p:nvPicPr>
        <p:blipFill>
          <a:blip r:embed="rId4"/>
          <a:stretch>
            <a:fillRect/>
          </a:stretch>
        </p:blipFill>
        <p:spPr>
          <a:xfrm>
            <a:off x="874166" y="4257446"/>
            <a:ext cx="263347" cy="263347"/>
          </a:xfrm>
          <a:prstGeom prst="rect">
            <a:avLst/>
          </a:prstGeom>
        </p:spPr>
      </p:pic>
      <p:sp>
        <p:nvSpPr>
          <p:cNvPr id="22" name="Text 16"/>
          <p:cNvSpPr/>
          <p:nvPr/>
        </p:nvSpPr>
        <p:spPr>
          <a:xfrm>
            <a:off x="1417320" y="406908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Forensic Analysis</a:t>
            </a:r>
            <a:endParaRPr lang="en-US" sz="1400" dirty="0"/>
          </a:p>
        </p:txBody>
      </p:sp>
      <p:sp>
        <p:nvSpPr>
          <p:cNvPr id="23" name="Text 17"/>
          <p:cNvSpPr/>
          <p:nvPr/>
        </p:nvSpPr>
        <p:spPr>
          <a:xfrm>
            <a:off x="731520" y="475488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Apply a forensic algorithm in Excel to quantify gender pay equality across roles.</a:t>
            </a:r>
            <a:endParaRPr lang="en-US" sz="1100" dirty="0"/>
          </a:p>
        </p:txBody>
      </p:sp>
      <p:sp>
        <p:nvSpPr>
          <p:cNvPr id="24" name="Shape 18"/>
          <p:cNvSpPr/>
          <p:nvPr/>
        </p:nvSpPr>
        <p:spPr>
          <a:xfrm>
            <a:off x="4251960" y="388620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25" name="Shape 19"/>
          <p:cNvSpPr/>
          <p:nvPr/>
        </p:nvSpPr>
        <p:spPr>
          <a:xfrm>
            <a:off x="4480560" y="4114800"/>
            <a:ext cx="548640" cy="548640"/>
          </a:xfrm>
          <a:prstGeom prst="ellipse">
            <a:avLst/>
          </a:prstGeom>
          <a:solidFill>
            <a:srgbClr val="EEF2E7"/>
          </a:solidFill>
          <a:ln/>
        </p:spPr>
      </p:sp>
      <p:pic>
        <p:nvPicPr>
          <p:cNvPr id="26" name="Image 4" descr="/home/claude/icons/clipboard_dark.png">    </p:cNvPr>
          <p:cNvPicPr>
            <a:picLocks noChangeAspect="1"/>
          </p:cNvPicPr>
          <p:nvPr/>
        </p:nvPicPr>
        <p:blipFill>
          <a:blip r:embed="rId5"/>
          <a:stretch>
            <a:fillRect/>
          </a:stretch>
        </p:blipFill>
        <p:spPr>
          <a:xfrm>
            <a:off x="4623206" y="4257446"/>
            <a:ext cx="263347" cy="263347"/>
          </a:xfrm>
          <a:prstGeom prst="rect">
            <a:avLst/>
          </a:prstGeom>
        </p:spPr>
      </p:pic>
      <p:sp>
        <p:nvSpPr>
          <p:cNvPr id="27" name="Text 20"/>
          <p:cNvSpPr/>
          <p:nvPr/>
        </p:nvSpPr>
        <p:spPr>
          <a:xfrm>
            <a:off x="5166360" y="406908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Classify Data</a:t>
            </a:r>
            <a:endParaRPr lang="en-US" sz="1400" dirty="0"/>
          </a:p>
        </p:txBody>
      </p:sp>
      <p:sp>
        <p:nvSpPr>
          <p:cNvPr id="28" name="Text 21"/>
          <p:cNvSpPr/>
          <p:nvPr/>
        </p:nvSpPr>
        <p:spPr>
          <a:xfrm>
            <a:off x="4480560" y="475488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Classify complex workforce datasets to pinpoint where pay gaps are most prevalent.</a:t>
            </a:r>
            <a:endParaRPr lang="en-US" sz="1100" dirty="0"/>
          </a:p>
        </p:txBody>
      </p:sp>
      <p:sp>
        <p:nvSpPr>
          <p:cNvPr id="29" name="Shape 22"/>
          <p:cNvSpPr/>
          <p:nvPr/>
        </p:nvSpPr>
        <p:spPr>
          <a:xfrm>
            <a:off x="8001000" y="3886200"/>
            <a:ext cx="3611880" cy="196596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30" name="Shape 23"/>
          <p:cNvSpPr/>
          <p:nvPr/>
        </p:nvSpPr>
        <p:spPr>
          <a:xfrm>
            <a:off x="8229600" y="4114800"/>
            <a:ext cx="548640" cy="548640"/>
          </a:xfrm>
          <a:prstGeom prst="ellipse">
            <a:avLst/>
          </a:prstGeom>
          <a:solidFill>
            <a:srgbClr val="EEF2E7"/>
          </a:solidFill>
          <a:ln/>
        </p:spPr>
      </p:sp>
      <p:pic>
        <p:nvPicPr>
          <p:cNvPr id="31" name="Image 5" descr="/home/claude/icons/check_dark.png">    </p:cNvPr>
          <p:cNvPicPr>
            <a:picLocks noChangeAspect="1"/>
          </p:cNvPicPr>
          <p:nvPr/>
        </p:nvPicPr>
        <p:blipFill>
          <a:blip r:embed="rId6"/>
          <a:stretch>
            <a:fillRect/>
          </a:stretch>
        </p:blipFill>
        <p:spPr>
          <a:xfrm>
            <a:off x="8372246" y="4257446"/>
            <a:ext cx="263347" cy="263347"/>
          </a:xfrm>
          <a:prstGeom prst="rect">
            <a:avLst/>
          </a:prstGeom>
        </p:spPr>
      </p:pic>
      <p:sp>
        <p:nvSpPr>
          <p:cNvPr id="32" name="Text 24"/>
          <p:cNvSpPr/>
          <p:nvPr/>
        </p:nvSpPr>
        <p:spPr>
          <a:xfrm>
            <a:off x="8915400" y="4069080"/>
            <a:ext cx="2514600" cy="548640"/>
          </a:xfrm>
          <a:prstGeom prst="rect">
            <a:avLst/>
          </a:prstGeom>
          <a:noFill/>
          <a:ln/>
        </p:spPr>
        <p:txBody>
          <a:bodyPr wrap="square"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Report Conclusions</a:t>
            </a:r>
            <a:endParaRPr lang="en-US" sz="1400" dirty="0"/>
          </a:p>
        </p:txBody>
      </p:sp>
      <p:sp>
        <p:nvSpPr>
          <p:cNvPr id="33" name="Text 25"/>
          <p:cNvSpPr/>
          <p:nvPr/>
        </p:nvSpPr>
        <p:spPr>
          <a:xfrm>
            <a:off x="8229600" y="4754880"/>
            <a:ext cx="3154680" cy="960120"/>
          </a:xfrm>
          <a:prstGeom prst="rect">
            <a:avLst/>
          </a:prstGeom>
          <a:noFill/>
          <a:ln/>
        </p:spPr>
        <p:txBody>
          <a:bodyPr wrap="square" rtlCol="0" anchor="ctr"/>
          <a:lstStyle/>
          <a:p>
            <a:pPr indent="0" marL="0">
              <a:buNone/>
            </a:pPr>
            <a:r>
              <a:rPr lang="en-US" sz="1100" dirty="0">
                <a:solidFill>
                  <a:srgbClr val="6E6E6E"/>
                </a:solidFill>
                <a:latin typeface="Calibri" pitchFamily="34" charset="0"/>
                <a:ea typeface="Calibri" pitchFamily="34" charset="-122"/>
                <a:cs typeface="Calibri" pitchFamily="34" charset="-120"/>
              </a:rPr>
              <a:t>Propose clear, evidence-based business conclusions to the forensic lead.</a:t>
            </a:r>
            <a:endParaRPr lang="en-US" sz="1100" dirty="0"/>
          </a:p>
        </p:txBody>
      </p:sp>
      <p:sp>
        <p:nvSpPr>
          <p:cNvPr id="34" name="Text 26"/>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35" name="Text 27"/>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Toolkit Behind the Simulation</a:t>
            </a:r>
            <a:endParaRPr lang="en-US" sz="3000" dirty="0"/>
          </a:p>
        </p:txBody>
      </p:sp>
      <p:sp>
        <p:nvSpPr>
          <p:cNvPr id="4" name="Shape 2"/>
          <p:cNvSpPr/>
          <p:nvPr/>
        </p:nvSpPr>
        <p:spPr>
          <a:xfrm>
            <a:off x="502920" y="1691640"/>
            <a:ext cx="2606040" cy="1965960"/>
          </a:xfrm>
          <a:prstGeom prst="rect">
            <a:avLst/>
          </a:prstGeom>
          <a:solidFill>
            <a:srgbClr val="EEF2E7"/>
          </a:solidFill>
          <a:ln/>
        </p:spPr>
      </p:sp>
      <p:sp>
        <p:nvSpPr>
          <p:cNvPr id="5" name="Shape 3"/>
          <p:cNvSpPr/>
          <p:nvPr/>
        </p:nvSpPr>
        <p:spPr>
          <a:xfrm>
            <a:off x="1394460" y="1920240"/>
            <a:ext cx="822960" cy="822960"/>
          </a:xfrm>
          <a:prstGeom prst="ellipse">
            <a:avLst/>
          </a:prstGeom>
          <a:solidFill>
            <a:srgbClr val="FFFFFF"/>
          </a:solidFill>
          <a:ln/>
        </p:spPr>
      </p:sp>
      <p:pic>
        <p:nvPicPr>
          <p:cNvPr id="6" name="Image 0" descr="/home/claude/icons/filetext_dark.png">    </p:cNvPr>
          <p:cNvPicPr>
            <a:picLocks noChangeAspect="1"/>
          </p:cNvPicPr>
          <p:nvPr/>
        </p:nvPicPr>
        <p:blipFill>
          <a:blip r:embed="rId1"/>
          <a:stretch>
            <a:fillRect/>
          </a:stretch>
        </p:blipFill>
        <p:spPr>
          <a:xfrm>
            <a:off x="1608430" y="2134210"/>
            <a:ext cx="395021" cy="395021"/>
          </a:xfrm>
          <a:prstGeom prst="rect">
            <a:avLst/>
          </a:prstGeom>
        </p:spPr>
      </p:pic>
      <p:sp>
        <p:nvSpPr>
          <p:cNvPr id="7" name="Text 4"/>
          <p:cNvSpPr/>
          <p:nvPr/>
        </p:nvSpPr>
        <p:spPr>
          <a:xfrm>
            <a:off x="594360" y="283464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Microsoft Excel</a:t>
            </a:r>
            <a:endParaRPr lang="en-US" sz="1300" dirty="0"/>
          </a:p>
        </p:txBody>
      </p:sp>
      <p:sp>
        <p:nvSpPr>
          <p:cNvPr id="8" name="Text 5"/>
          <p:cNvSpPr/>
          <p:nvPr/>
        </p:nvSpPr>
        <p:spPr>
          <a:xfrm>
            <a:off x="594360" y="320040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Data cleaning &amp; forensic analysis</a:t>
            </a:r>
            <a:endParaRPr lang="en-US" sz="950" dirty="0"/>
          </a:p>
        </p:txBody>
      </p:sp>
      <p:sp>
        <p:nvSpPr>
          <p:cNvPr id="9" name="Shape 6"/>
          <p:cNvSpPr/>
          <p:nvPr/>
        </p:nvSpPr>
        <p:spPr>
          <a:xfrm>
            <a:off x="3291840" y="1691640"/>
            <a:ext cx="2606040" cy="1965960"/>
          </a:xfrm>
          <a:prstGeom prst="rect">
            <a:avLst/>
          </a:prstGeom>
          <a:solidFill>
            <a:srgbClr val="EEF2E7"/>
          </a:solidFill>
          <a:ln/>
        </p:spPr>
      </p:sp>
      <p:sp>
        <p:nvSpPr>
          <p:cNvPr id="10" name="Shape 7"/>
          <p:cNvSpPr/>
          <p:nvPr/>
        </p:nvSpPr>
        <p:spPr>
          <a:xfrm>
            <a:off x="4183380" y="1920240"/>
            <a:ext cx="822960" cy="822960"/>
          </a:xfrm>
          <a:prstGeom prst="ellipse">
            <a:avLst/>
          </a:prstGeom>
          <a:solidFill>
            <a:srgbClr val="FFFFFF"/>
          </a:solidFill>
          <a:ln/>
        </p:spPr>
      </p:sp>
      <p:pic>
        <p:nvPicPr>
          <p:cNvPr id="11" name="Image 1" descr="/home/claude/icons/barchart_dark.png">    </p:cNvPr>
          <p:cNvPicPr>
            <a:picLocks noChangeAspect="1"/>
          </p:cNvPicPr>
          <p:nvPr/>
        </p:nvPicPr>
        <p:blipFill>
          <a:blip r:embed="rId2"/>
          <a:stretch>
            <a:fillRect/>
          </a:stretch>
        </p:blipFill>
        <p:spPr>
          <a:xfrm>
            <a:off x="4397350" y="2134210"/>
            <a:ext cx="395021" cy="395021"/>
          </a:xfrm>
          <a:prstGeom prst="rect">
            <a:avLst/>
          </a:prstGeom>
        </p:spPr>
      </p:pic>
      <p:sp>
        <p:nvSpPr>
          <p:cNvPr id="12" name="Text 8"/>
          <p:cNvSpPr/>
          <p:nvPr/>
        </p:nvSpPr>
        <p:spPr>
          <a:xfrm>
            <a:off x="3383280" y="283464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Tableau</a:t>
            </a:r>
            <a:endParaRPr lang="en-US" sz="1300" dirty="0"/>
          </a:p>
        </p:txBody>
      </p:sp>
      <p:sp>
        <p:nvSpPr>
          <p:cNvPr id="13" name="Text 9"/>
          <p:cNvSpPr/>
          <p:nvPr/>
        </p:nvSpPr>
        <p:spPr>
          <a:xfrm>
            <a:off x="3383280" y="320040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Interactive dashboard design</a:t>
            </a:r>
            <a:endParaRPr lang="en-US" sz="950" dirty="0"/>
          </a:p>
        </p:txBody>
      </p:sp>
      <p:sp>
        <p:nvSpPr>
          <p:cNvPr id="14" name="Shape 10"/>
          <p:cNvSpPr/>
          <p:nvPr/>
        </p:nvSpPr>
        <p:spPr>
          <a:xfrm>
            <a:off x="6080760" y="1691640"/>
            <a:ext cx="2606040" cy="1965960"/>
          </a:xfrm>
          <a:prstGeom prst="rect">
            <a:avLst/>
          </a:prstGeom>
          <a:solidFill>
            <a:srgbClr val="EEF2E7"/>
          </a:solidFill>
          <a:ln/>
        </p:spPr>
      </p:sp>
      <p:sp>
        <p:nvSpPr>
          <p:cNvPr id="15" name="Shape 11"/>
          <p:cNvSpPr/>
          <p:nvPr/>
        </p:nvSpPr>
        <p:spPr>
          <a:xfrm>
            <a:off x="6972300" y="1920240"/>
            <a:ext cx="822960" cy="822960"/>
          </a:xfrm>
          <a:prstGeom prst="ellipse">
            <a:avLst/>
          </a:prstGeom>
          <a:solidFill>
            <a:srgbClr val="FFFFFF"/>
          </a:solidFill>
          <a:ln/>
        </p:spPr>
      </p:sp>
      <p:pic>
        <p:nvPicPr>
          <p:cNvPr id="16" name="Image 2" descr="/home/claude/icons/database_dark.png">    </p:cNvPr>
          <p:cNvPicPr>
            <a:picLocks noChangeAspect="1"/>
          </p:cNvPicPr>
          <p:nvPr/>
        </p:nvPicPr>
        <p:blipFill>
          <a:blip r:embed="rId3"/>
          <a:stretch>
            <a:fillRect/>
          </a:stretch>
        </p:blipFill>
        <p:spPr>
          <a:xfrm>
            <a:off x="7186270" y="2134210"/>
            <a:ext cx="395021" cy="395021"/>
          </a:xfrm>
          <a:prstGeom prst="rect">
            <a:avLst/>
          </a:prstGeom>
        </p:spPr>
      </p:pic>
      <p:sp>
        <p:nvSpPr>
          <p:cNvPr id="17" name="Text 12"/>
          <p:cNvSpPr/>
          <p:nvPr/>
        </p:nvSpPr>
        <p:spPr>
          <a:xfrm>
            <a:off x="6172200" y="283464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JSON Data</a:t>
            </a:r>
            <a:endParaRPr lang="en-US" sz="1300" dirty="0"/>
          </a:p>
        </p:txBody>
      </p:sp>
      <p:sp>
        <p:nvSpPr>
          <p:cNvPr id="18" name="Text 13"/>
          <p:cNvSpPr/>
          <p:nvPr/>
        </p:nvSpPr>
        <p:spPr>
          <a:xfrm>
            <a:off x="6172200" y="320040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Multi-source telemetry unification</a:t>
            </a:r>
            <a:endParaRPr lang="en-US" sz="950" dirty="0"/>
          </a:p>
        </p:txBody>
      </p:sp>
      <p:sp>
        <p:nvSpPr>
          <p:cNvPr id="19" name="Shape 14"/>
          <p:cNvSpPr/>
          <p:nvPr/>
        </p:nvSpPr>
        <p:spPr>
          <a:xfrm>
            <a:off x="8869680" y="1691640"/>
            <a:ext cx="2606040" cy="1965960"/>
          </a:xfrm>
          <a:prstGeom prst="rect">
            <a:avLst/>
          </a:prstGeom>
          <a:solidFill>
            <a:srgbClr val="EEF2E7"/>
          </a:solidFill>
          <a:ln/>
        </p:spPr>
      </p:sp>
      <p:sp>
        <p:nvSpPr>
          <p:cNvPr id="20" name="Shape 15"/>
          <p:cNvSpPr/>
          <p:nvPr/>
        </p:nvSpPr>
        <p:spPr>
          <a:xfrm>
            <a:off x="9761220" y="1920240"/>
            <a:ext cx="822960" cy="822960"/>
          </a:xfrm>
          <a:prstGeom prst="ellipse">
            <a:avLst/>
          </a:prstGeom>
          <a:solidFill>
            <a:srgbClr val="FFFFFF"/>
          </a:solidFill>
          <a:ln/>
        </p:spPr>
      </p:sp>
      <p:pic>
        <p:nvPicPr>
          <p:cNvPr id="21" name="Image 3" descr="/home/claude/icons/trending_dark.png">    </p:cNvPr>
          <p:cNvPicPr>
            <a:picLocks noChangeAspect="1"/>
          </p:cNvPicPr>
          <p:nvPr/>
        </p:nvPicPr>
        <p:blipFill>
          <a:blip r:embed="rId4"/>
          <a:stretch>
            <a:fillRect/>
          </a:stretch>
        </p:blipFill>
        <p:spPr>
          <a:xfrm>
            <a:off x="9975190" y="2134210"/>
            <a:ext cx="395021" cy="395021"/>
          </a:xfrm>
          <a:prstGeom prst="rect">
            <a:avLst/>
          </a:prstGeom>
        </p:spPr>
      </p:pic>
      <p:sp>
        <p:nvSpPr>
          <p:cNvPr id="22" name="Text 16"/>
          <p:cNvSpPr/>
          <p:nvPr/>
        </p:nvSpPr>
        <p:spPr>
          <a:xfrm>
            <a:off x="8961120" y="283464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Trend Analysis</a:t>
            </a:r>
            <a:endParaRPr lang="en-US" sz="1300" dirty="0"/>
          </a:p>
        </p:txBody>
      </p:sp>
      <p:sp>
        <p:nvSpPr>
          <p:cNvPr id="23" name="Text 17"/>
          <p:cNvSpPr/>
          <p:nvPr/>
        </p:nvSpPr>
        <p:spPr>
          <a:xfrm>
            <a:off x="8961120" y="320040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Operational bottleneck detection</a:t>
            </a:r>
            <a:endParaRPr lang="en-US" sz="950" dirty="0"/>
          </a:p>
        </p:txBody>
      </p:sp>
      <p:sp>
        <p:nvSpPr>
          <p:cNvPr id="24" name="Shape 18"/>
          <p:cNvSpPr/>
          <p:nvPr/>
        </p:nvSpPr>
        <p:spPr>
          <a:xfrm>
            <a:off x="502920" y="3886200"/>
            <a:ext cx="2606040" cy="1965960"/>
          </a:xfrm>
          <a:prstGeom prst="rect">
            <a:avLst/>
          </a:prstGeom>
          <a:solidFill>
            <a:srgbClr val="EEF2E7"/>
          </a:solidFill>
          <a:ln/>
        </p:spPr>
      </p:sp>
      <p:sp>
        <p:nvSpPr>
          <p:cNvPr id="25" name="Shape 19"/>
          <p:cNvSpPr/>
          <p:nvPr/>
        </p:nvSpPr>
        <p:spPr>
          <a:xfrm>
            <a:off x="1394460" y="4114800"/>
            <a:ext cx="822960" cy="822960"/>
          </a:xfrm>
          <a:prstGeom prst="ellipse">
            <a:avLst/>
          </a:prstGeom>
          <a:solidFill>
            <a:srgbClr val="FFFFFF"/>
          </a:solidFill>
          <a:ln/>
        </p:spPr>
      </p:sp>
      <p:pic>
        <p:nvPicPr>
          <p:cNvPr id="26" name="Image 4" descr="/home/claude/icons/shield_dark.png">    </p:cNvPr>
          <p:cNvPicPr>
            <a:picLocks noChangeAspect="1"/>
          </p:cNvPicPr>
          <p:nvPr/>
        </p:nvPicPr>
        <p:blipFill>
          <a:blip r:embed="rId5"/>
          <a:stretch>
            <a:fillRect/>
          </a:stretch>
        </p:blipFill>
        <p:spPr>
          <a:xfrm>
            <a:off x="1608430" y="4328770"/>
            <a:ext cx="395021" cy="395021"/>
          </a:xfrm>
          <a:prstGeom prst="rect">
            <a:avLst/>
          </a:prstGeom>
        </p:spPr>
      </p:pic>
      <p:sp>
        <p:nvSpPr>
          <p:cNvPr id="27" name="Text 20"/>
          <p:cNvSpPr/>
          <p:nvPr/>
        </p:nvSpPr>
        <p:spPr>
          <a:xfrm>
            <a:off x="594360" y="502920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Forensic Techniques</a:t>
            </a:r>
            <a:endParaRPr lang="en-US" sz="1300" dirty="0"/>
          </a:p>
        </p:txBody>
      </p:sp>
      <p:sp>
        <p:nvSpPr>
          <p:cNvPr id="28" name="Text 21"/>
          <p:cNvSpPr/>
          <p:nvPr/>
        </p:nvSpPr>
        <p:spPr>
          <a:xfrm>
            <a:off x="594360" y="539496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Quantitative pay-equity analysis</a:t>
            </a:r>
            <a:endParaRPr lang="en-US" sz="950" dirty="0"/>
          </a:p>
        </p:txBody>
      </p:sp>
      <p:sp>
        <p:nvSpPr>
          <p:cNvPr id="29" name="Shape 22"/>
          <p:cNvSpPr/>
          <p:nvPr/>
        </p:nvSpPr>
        <p:spPr>
          <a:xfrm>
            <a:off x="3291840" y="3886200"/>
            <a:ext cx="2606040" cy="1965960"/>
          </a:xfrm>
          <a:prstGeom prst="rect">
            <a:avLst/>
          </a:prstGeom>
          <a:solidFill>
            <a:srgbClr val="EEF2E7"/>
          </a:solidFill>
          <a:ln/>
        </p:spPr>
      </p:sp>
      <p:sp>
        <p:nvSpPr>
          <p:cNvPr id="30" name="Shape 23"/>
          <p:cNvSpPr/>
          <p:nvPr/>
        </p:nvSpPr>
        <p:spPr>
          <a:xfrm>
            <a:off x="4183380" y="4114800"/>
            <a:ext cx="822960" cy="822960"/>
          </a:xfrm>
          <a:prstGeom prst="ellipse">
            <a:avLst/>
          </a:prstGeom>
          <a:solidFill>
            <a:srgbClr val="FFFFFF"/>
          </a:solidFill>
          <a:ln/>
        </p:spPr>
      </p:sp>
      <p:pic>
        <p:nvPicPr>
          <p:cNvPr id="31" name="Image 5" descr="/home/claude/icons/clipboard_dark.png">    </p:cNvPr>
          <p:cNvPicPr>
            <a:picLocks noChangeAspect="1"/>
          </p:cNvPicPr>
          <p:nvPr/>
        </p:nvPicPr>
        <p:blipFill>
          <a:blip r:embed="rId6"/>
          <a:stretch>
            <a:fillRect/>
          </a:stretch>
        </p:blipFill>
        <p:spPr>
          <a:xfrm>
            <a:off x="4397350" y="4328770"/>
            <a:ext cx="395021" cy="395021"/>
          </a:xfrm>
          <a:prstGeom prst="rect">
            <a:avLst/>
          </a:prstGeom>
        </p:spPr>
      </p:pic>
      <p:sp>
        <p:nvSpPr>
          <p:cNvPr id="32" name="Text 24"/>
          <p:cNvSpPr/>
          <p:nvPr/>
        </p:nvSpPr>
        <p:spPr>
          <a:xfrm>
            <a:off x="3383280" y="502920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Data Classification</a:t>
            </a:r>
            <a:endParaRPr lang="en-US" sz="1300" dirty="0"/>
          </a:p>
        </p:txBody>
      </p:sp>
      <p:sp>
        <p:nvSpPr>
          <p:cNvPr id="33" name="Text 25"/>
          <p:cNvSpPr/>
          <p:nvPr/>
        </p:nvSpPr>
        <p:spPr>
          <a:xfrm>
            <a:off x="3383280" y="539496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Structuring complex workforce data</a:t>
            </a:r>
            <a:endParaRPr lang="en-US" sz="950" dirty="0"/>
          </a:p>
        </p:txBody>
      </p:sp>
      <p:sp>
        <p:nvSpPr>
          <p:cNvPr id="34" name="Shape 26"/>
          <p:cNvSpPr/>
          <p:nvPr/>
        </p:nvSpPr>
        <p:spPr>
          <a:xfrm>
            <a:off x="6080760" y="3886200"/>
            <a:ext cx="2606040" cy="1965960"/>
          </a:xfrm>
          <a:prstGeom prst="rect">
            <a:avLst/>
          </a:prstGeom>
          <a:solidFill>
            <a:srgbClr val="EEF2E7"/>
          </a:solidFill>
          <a:ln/>
        </p:spPr>
      </p:sp>
      <p:sp>
        <p:nvSpPr>
          <p:cNvPr id="35" name="Shape 27"/>
          <p:cNvSpPr/>
          <p:nvPr/>
        </p:nvSpPr>
        <p:spPr>
          <a:xfrm>
            <a:off x="6972300" y="4114800"/>
            <a:ext cx="822960" cy="822960"/>
          </a:xfrm>
          <a:prstGeom prst="ellipse">
            <a:avLst/>
          </a:prstGeom>
          <a:solidFill>
            <a:srgbClr val="FFFFFF"/>
          </a:solidFill>
          <a:ln/>
        </p:spPr>
      </p:sp>
      <p:pic>
        <p:nvPicPr>
          <p:cNvPr id="36" name="Image 6" descr="/home/claude/icons/piechart_dark.png">    </p:cNvPr>
          <p:cNvPicPr>
            <a:picLocks noChangeAspect="1"/>
          </p:cNvPicPr>
          <p:nvPr/>
        </p:nvPicPr>
        <p:blipFill>
          <a:blip r:embed="rId7"/>
          <a:stretch>
            <a:fillRect/>
          </a:stretch>
        </p:blipFill>
        <p:spPr>
          <a:xfrm>
            <a:off x="7186270" y="4328770"/>
            <a:ext cx="395021" cy="395021"/>
          </a:xfrm>
          <a:prstGeom prst="rect">
            <a:avLst/>
          </a:prstGeom>
        </p:spPr>
      </p:pic>
      <p:sp>
        <p:nvSpPr>
          <p:cNvPr id="37" name="Text 28"/>
          <p:cNvSpPr/>
          <p:nvPr/>
        </p:nvSpPr>
        <p:spPr>
          <a:xfrm>
            <a:off x="6172200" y="502920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Data Visualization</a:t>
            </a:r>
            <a:endParaRPr lang="en-US" sz="1300" dirty="0"/>
          </a:p>
        </p:txBody>
      </p:sp>
      <p:sp>
        <p:nvSpPr>
          <p:cNvPr id="38" name="Text 29"/>
          <p:cNvSpPr/>
          <p:nvPr/>
        </p:nvSpPr>
        <p:spPr>
          <a:xfrm>
            <a:off x="6172200" y="539496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Stakeholder-ready reporting</a:t>
            </a:r>
            <a:endParaRPr lang="en-US" sz="950" dirty="0"/>
          </a:p>
        </p:txBody>
      </p:sp>
      <p:sp>
        <p:nvSpPr>
          <p:cNvPr id="39" name="Shape 30"/>
          <p:cNvSpPr/>
          <p:nvPr/>
        </p:nvSpPr>
        <p:spPr>
          <a:xfrm>
            <a:off x="8869680" y="3886200"/>
            <a:ext cx="2606040" cy="1965960"/>
          </a:xfrm>
          <a:prstGeom prst="rect">
            <a:avLst/>
          </a:prstGeom>
          <a:solidFill>
            <a:srgbClr val="EEF2E7"/>
          </a:solidFill>
          <a:ln/>
        </p:spPr>
      </p:sp>
      <p:sp>
        <p:nvSpPr>
          <p:cNvPr id="40" name="Shape 31"/>
          <p:cNvSpPr/>
          <p:nvPr/>
        </p:nvSpPr>
        <p:spPr>
          <a:xfrm>
            <a:off x="9761220" y="4114800"/>
            <a:ext cx="822960" cy="822960"/>
          </a:xfrm>
          <a:prstGeom prst="ellipse">
            <a:avLst/>
          </a:prstGeom>
          <a:solidFill>
            <a:srgbClr val="FFFFFF"/>
          </a:solidFill>
          <a:ln/>
        </p:spPr>
      </p:sp>
      <p:pic>
        <p:nvPicPr>
          <p:cNvPr id="41" name="Image 7" descr="/home/claude/icons/globe_dark.png">    </p:cNvPr>
          <p:cNvPicPr>
            <a:picLocks noChangeAspect="1"/>
          </p:cNvPicPr>
          <p:nvPr/>
        </p:nvPicPr>
        <p:blipFill>
          <a:blip r:embed="rId8"/>
          <a:stretch>
            <a:fillRect/>
          </a:stretch>
        </p:blipFill>
        <p:spPr>
          <a:xfrm>
            <a:off x="9975190" y="4328770"/>
            <a:ext cx="395021" cy="395021"/>
          </a:xfrm>
          <a:prstGeom prst="rect">
            <a:avLst/>
          </a:prstGeom>
        </p:spPr>
      </p:pic>
      <p:sp>
        <p:nvSpPr>
          <p:cNvPr id="42" name="Text 32"/>
          <p:cNvSpPr/>
          <p:nvPr/>
        </p:nvSpPr>
        <p:spPr>
          <a:xfrm>
            <a:off x="8961120" y="5029200"/>
            <a:ext cx="2423160" cy="365760"/>
          </a:xfrm>
          <a:prstGeom prst="rect">
            <a:avLst/>
          </a:prstGeom>
          <a:noFill/>
          <a:ln/>
        </p:spPr>
        <p:txBody>
          <a:bodyPr wrap="square"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Forage Platform</a:t>
            </a:r>
            <a:endParaRPr lang="en-US" sz="1300" dirty="0"/>
          </a:p>
        </p:txBody>
      </p:sp>
      <p:sp>
        <p:nvSpPr>
          <p:cNvPr id="43" name="Text 33"/>
          <p:cNvSpPr/>
          <p:nvPr/>
        </p:nvSpPr>
        <p:spPr>
          <a:xfrm>
            <a:off x="8961120" y="5394960"/>
            <a:ext cx="2423160" cy="411480"/>
          </a:xfrm>
          <a:prstGeom prst="rect">
            <a:avLst/>
          </a:prstGeom>
          <a:noFill/>
          <a:ln/>
        </p:spPr>
        <p:txBody>
          <a:bodyPr wrap="square" rtlCol="0" anchor="ctr"/>
          <a:lstStyle/>
          <a:p>
            <a:pPr algn="ctr" indent="0" marL="0">
              <a:buNone/>
            </a:pPr>
            <a:r>
              <a:rPr lang="en-US" sz="950" dirty="0">
                <a:solidFill>
                  <a:srgbClr val="6E6E6E"/>
                </a:solidFill>
                <a:latin typeface="Calibri" pitchFamily="34" charset="0"/>
                <a:ea typeface="Calibri" pitchFamily="34" charset="-122"/>
                <a:cs typeface="Calibri" pitchFamily="34" charset="-120"/>
              </a:rPr>
              <a:t>Self-paced virtual work experience</a:t>
            </a:r>
            <a:endParaRPr lang="en-US" sz="950" dirty="0"/>
          </a:p>
        </p:txBody>
      </p:sp>
      <p:sp>
        <p:nvSpPr>
          <p:cNvPr id="44" name="Text 34"/>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45" name="Text 35"/>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86BC25"/>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Raw Data to Business Insight</a:t>
            </a:r>
            <a:endParaRPr lang="en-US" sz="3000" dirty="0"/>
          </a:p>
        </p:txBody>
      </p:sp>
      <p:sp>
        <p:nvSpPr>
          <p:cNvPr id="4" name="Shape 2"/>
          <p:cNvSpPr/>
          <p:nvPr/>
        </p:nvSpPr>
        <p:spPr>
          <a:xfrm>
            <a:off x="502920" y="1645920"/>
            <a:ext cx="11155680" cy="713232"/>
          </a:xfrm>
          <a:prstGeom prst="rect">
            <a:avLst/>
          </a:prstGeom>
          <a:solidFill>
            <a:srgbClr val="43691B">
              <a:alpha val="85000"/>
            </a:srgbClr>
          </a:solidFill>
          <a:ln/>
        </p:spPr>
      </p:sp>
      <p:sp>
        <p:nvSpPr>
          <p:cNvPr id="5" name="Shape 3"/>
          <p:cNvSpPr/>
          <p:nvPr/>
        </p:nvSpPr>
        <p:spPr>
          <a:xfrm>
            <a:off x="685800" y="1751076"/>
            <a:ext cx="502920" cy="502920"/>
          </a:xfrm>
          <a:prstGeom prst="ellipse">
            <a:avLst/>
          </a:prstGeom>
          <a:solidFill>
            <a:srgbClr val="1A1A1A"/>
          </a:solidFill>
          <a:ln/>
        </p:spPr>
      </p:sp>
      <p:pic>
        <p:nvPicPr>
          <p:cNvPr id="6" name="Image 0" descr="/home/claude/icons/database.png">    </p:cNvPr>
          <p:cNvPicPr>
            <a:picLocks noChangeAspect="1"/>
          </p:cNvPicPr>
          <p:nvPr/>
        </p:nvPicPr>
        <p:blipFill>
          <a:blip r:embed="rId1"/>
          <a:stretch>
            <a:fillRect/>
          </a:stretch>
        </p:blipFill>
        <p:spPr>
          <a:xfrm>
            <a:off x="816559" y="1881835"/>
            <a:ext cx="241402" cy="241402"/>
          </a:xfrm>
          <a:prstGeom prst="rect">
            <a:avLst/>
          </a:prstGeom>
        </p:spPr>
      </p:pic>
      <p:sp>
        <p:nvSpPr>
          <p:cNvPr id="7" name="Text 4"/>
          <p:cNvSpPr/>
          <p:nvPr/>
        </p:nvSpPr>
        <p:spPr>
          <a:xfrm>
            <a:off x="1417320" y="1645920"/>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Layer</a:t>
            </a:r>
            <a:endParaRPr lang="en-US" sz="1400" dirty="0"/>
          </a:p>
        </p:txBody>
      </p:sp>
      <p:sp>
        <p:nvSpPr>
          <p:cNvPr id="8" name="Text 5"/>
          <p:cNvSpPr/>
          <p:nvPr/>
        </p:nvSpPr>
        <p:spPr>
          <a:xfrm>
            <a:off x="4297680" y="1645920"/>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Raw telemetry data from four global factories, supplied as a single JSON file</a:t>
            </a:r>
            <a:endParaRPr lang="en-US" sz="1200" dirty="0"/>
          </a:p>
        </p:txBody>
      </p:sp>
      <p:sp>
        <p:nvSpPr>
          <p:cNvPr id="9" name="Text 6"/>
          <p:cNvSpPr/>
          <p:nvPr/>
        </p:nvSpPr>
        <p:spPr>
          <a:xfrm>
            <a:off x="502920" y="2340864"/>
            <a:ext cx="548640" cy="182880"/>
          </a:xfrm>
          <a:prstGeom prst="rect">
            <a:avLst/>
          </a:prstGeom>
          <a:noFill/>
          <a:ln/>
        </p:spPr>
        <p:txBody>
          <a:bodyPr wrap="square" rtlCol="0" anchor="ctr"/>
          <a:lstStyle/>
          <a:p>
            <a:pPr algn="ctr" indent="0" marL="0">
              <a:buNone/>
            </a:pPr>
            <a:r>
              <a:rPr lang="en-US" sz="1000" dirty="0">
                <a:solidFill>
                  <a:srgbClr val="86BC25"/>
                </a:solidFill>
              </a:rPr>
              <a:t>↓</a:t>
            </a:r>
            <a:endParaRPr lang="en-US" sz="1000" dirty="0"/>
          </a:p>
        </p:txBody>
      </p:sp>
      <p:sp>
        <p:nvSpPr>
          <p:cNvPr id="10" name="Shape 7"/>
          <p:cNvSpPr/>
          <p:nvPr/>
        </p:nvSpPr>
        <p:spPr>
          <a:xfrm>
            <a:off x="502920" y="2414016"/>
            <a:ext cx="11155680" cy="713232"/>
          </a:xfrm>
          <a:prstGeom prst="rect">
            <a:avLst/>
          </a:prstGeom>
          <a:solidFill>
            <a:srgbClr val="43691B">
              <a:alpha val="65000"/>
            </a:srgbClr>
          </a:solidFill>
          <a:ln/>
        </p:spPr>
      </p:sp>
      <p:sp>
        <p:nvSpPr>
          <p:cNvPr id="11" name="Shape 8"/>
          <p:cNvSpPr/>
          <p:nvPr/>
        </p:nvSpPr>
        <p:spPr>
          <a:xfrm>
            <a:off x="685800" y="2519172"/>
            <a:ext cx="502920" cy="502920"/>
          </a:xfrm>
          <a:prstGeom prst="ellipse">
            <a:avLst/>
          </a:prstGeom>
          <a:solidFill>
            <a:srgbClr val="1A1A1A"/>
          </a:solidFill>
          <a:ln/>
        </p:spPr>
      </p:sp>
      <p:pic>
        <p:nvPicPr>
          <p:cNvPr id="12" name="Image 1" descr="/home/claude/icons/settings.png">    </p:cNvPr>
          <p:cNvPicPr>
            <a:picLocks noChangeAspect="1"/>
          </p:cNvPicPr>
          <p:nvPr/>
        </p:nvPicPr>
        <p:blipFill>
          <a:blip r:embed="rId2"/>
          <a:stretch>
            <a:fillRect/>
          </a:stretch>
        </p:blipFill>
        <p:spPr>
          <a:xfrm>
            <a:off x="816559" y="2649931"/>
            <a:ext cx="241402" cy="241402"/>
          </a:xfrm>
          <a:prstGeom prst="rect">
            <a:avLst/>
          </a:prstGeom>
        </p:spPr>
      </p:pic>
      <p:sp>
        <p:nvSpPr>
          <p:cNvPr id="13" name="Text 9"/>
          <p:cNvSpPr/>
          <p:nvPr/>
        </p:nvSpPr>
        <p:spPr>
          <a:xfrm>
            <a:off x="1417320" y="2414016"/>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Processing Layer</a:t>
            </a:r>
            <a:endParaRPr lang="en-US" sz="1400" dirty="0"/>
          </a:p>
        </p:txBody>
      </p:sp>
      <p:sp>
        <p:nvSpPr>
          <p:cNvPr id="14" name="Text 10"/>
          <p:cNvSpPr/>
          <p:nvPr/>
        </p:nvSpPr>
        <p:spPr>
          <a:xfrm>
            <a:off x="4297680" y="2414016"/>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Data cleaning &amp; unification into a structured, analysable dataset</a:t>
            </a:r>
            <a:endParaRPr lang="en-US" sz="1200" dirty="0"/>
          </a:p>
        </p:txBody>
      </p:sp>
      <p:sp>
        <p:nvSpPr>
          <p:cNvPr id="15" name="Text 11"/>
          <p:cNvSpPr/>
          <p:nvPr/>
        </p:nvSpPr>
        <p:spPr>
          <a:xfrm>
            <a:off x="502920" y="3108960"/>
            <a:ext cx="548640" cy="182880"/>
          </a:xfrm>
          <a:prstGeom prst="rect">
            <a:avLst/>
          </a:prstGeom>
          <a:noFill/>
          <a:ln/>
        </p:spPr>
        <p:txBody>
          <a:bodyPr wrap="square" rtlCol="0" anchor="ctr"/>
          <a:lstStyle/>
          <a:p>
            <a:pPr algn="ctr" indent="0" marL="0">
              <a:buNone/>
            </a:pPr>
            <a:r>
              <a:rPr lang="en-US" sz="1000" dirty="0">
                <a:solidFill>
                  <a:srgbClr val="86BC25"/>
                </a:solidFill>
              </a:rPr>
              <a:t>↓</a:t>
            </a:r>
            <a:endParaRPr lang="en-US" sz="1000" dirty="0"/>
          </a:p>
        </p:txBody>
      </p:sp>
      <p:sp>
        <p:nvSpPr>
          <p:cNvPr id="16" name="Shape 12"/>
          <p:cNvSpPr/>
          <p:nvPr/>
        </p:nvSpPr>
        <p:spPr>
          <a:xfrm>
            <a:off x="502920" y="3182112"/>
            <a:ext cx="11155680" cy="713232"/>
          </a:xfrm>
          <a:prstGeom prst="rect">
            <a:avLst/>
          </a:prstGeom>
          <a:solidFill>
            <a:srgbClr val="43691B">
              <a:alpha val="85000"/>
            </a:srgbClr>
          </a:solidFill>
          <a:ln/>
        </p:spPr>
      </p:sp>
      <p:sp>
        <p:nvSpPr>
          <p:cNvPr id="17" name="Shape 13"/>
          <p:cNvSpPr/>
          <p:nvPr/>
        </p:nvSpPr>
        <p:spPr>
          <a:xfrm>
            <a:off x="685800" y="3287268"/>
            <a:ext cx="502920" cy="502920"/>
          </a:xfrm>
          <a:prstGeom prst="ellipse">
            <a:avLst/>
          </a:prstGeom>
          <a:solidFill>
            <a:srgbClr val="1A1A1A"/>
          </a:solidFill>
          <a:ln/>
        </p:spPr>
      </p:sp>
      <p:pic>
        <p:nvPicPr>
          <p:cNvPr id="18" name="Image 2" descr="/home/claude/icons/trending.png">    </p:cNvPr>
          <p:cNvPicPr>
            <a:picLocks noChangeAspect="1"/>
          </p:cNvPicPr>
          <p:nvPr/>
        </p:nvPicPr>
        <p:blipFill>
          <a:blip r:embed="rId3"/>
          <a:stretch>
            <a:fillRect/>
          </a:stretch>
        </p:blipFill>
        <p:spPr>
          <a:xfrm>
            <a:off x="816559" y="3418027"/>
            <a:ext cx="241402" cy="241402"/>
          </a:xfrm>
          <a:prstGeom prst="rect">
            <a:avLst/>
          </a:prstGeom>
        </p:spPr>
      </p:pic>
      <p:sp>
        <p:nvSpPr>
          <p:cNvPr id="19" name="Text 14"/>
          <p:cNvSpPr/>
          <p:nvPr/>
        </p:nvSpPr>
        <p:spPr>
          <a:xfrm>
            <a:off x="1417320" y="3182112"/>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Analysis Layer</a:t>
            </a:r>
            <a:endParaRPr lang="en-US" sz="1400" dirty="0"/>
          </a:p>
        </p:txBody>
      </p:sp>
      <p:sp>
        <p:nvSpPr>
          <p:cNvPr id="20" name="Text 15"/>
          <p:cNvSpPr/>
          <p:nvPr/>
        </p:nvSpPr>
        <p:spPr>
          <a:xfrm>
            <a:off x="4297680" y="3182112"/>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Trend and bottleneck analysis performed on the unified dataset</a:t>
            </a:r>
            <a:endParaRPr lang="en-US" sz="1200" dirty="0"/>
          </a:p>
        </p:txBody>
      </p:sp>
      <p:sp>
        <p:nvSpPr>
          <p:cNvPr id="21" name="Text 16"/>
          <p:cNvSpPr/>
          <p:nvPr/>
        </p:nvSpPr>
        <p:spPr>
          <a:xfrm>
            <a:off x="502920" y="3877056"/>
            <a:ext cx="548640" cy="182880"/>
          </a:xfrm>
          <a:prstGeom prst="rect">
            <a:avLst/>
          </a:prstGeom>
          <a:noFill/>
          <a:ln/>
        </p:spPr>
        <p:txBody>
          <a:bodyPr wrap="square" rtlCol="0" anchor="ctr"/>
          <a:lstStyle/>
          <a:p>
            <a:pPr algn="ctr" indent="0" marL="0">
              <a:buNone/>
            </a:pPr>
            <a:r>
              <a:rPr lang="en-US" sz="1000" dirty="0">
                <a:solidFill>
                  <a:srgbClr val="86BC25"/>
                </a:solidFill>
              </a:rPr>
              <a:t>↓</a:t>
            </a:r>
            <a:endParaRPr lang="en-US" sz="1000" dirty="0"/>
          </a:p>
        </p:txBody>
      </p:sp>
      <p:sp>
        <p:nvSpPr>
          <p:cNvPr id="22" name="Shape 17"/>
          <p:cNvSpPr/>
          <p:nvPr/>
        </p:nvSpPr>
        <p:spPr>
          <a:xfrm>
            <a:off x="502920" y="3950208"/>
            <a:ext cx="11155680" cy="713232"/>
          </a:xfrm>
          <a:prstGeom prst="rect">
            <a:avLst/>
          </a:prstGeom>
          <a:solidFill>
            <a:srgbClr val="43691B">
              <a:alpha val="65000"/>
            </a:srgbClr>
          </a:solidFill>
          <a:ln/>
        </p:spPr>
      </p:sp>
      <p:sp>
        <p:nvSpPr>
          <p:cNvPr id="23" name="Shape 18"/>
          <p:cNvSpPr/>
          <p:nvPr/>
        </p:nvSpPr>
        <p:spPr>
          <a:xfrm>
            <a:off x="685800" y="4055364"/>
            <a:ext cx="502920" cy="502920"/>
          </a:xfrm>
          <a:prstGeom prst="ellipse">
            <a:avLst/>
          </a:prstGeom>
          <a:solidFill>
            <a:srgbClr val="1A1A1A"/>
          </a:solidFill>
          <a:ln/>
        </p:spPr>
      </p:sp>
      <p:pic>
        <p:nvPicPr>
          <p:cNvPr id="24" name="Image 3" descr="/home/claude/icons/piechart.png">    </p:cNvPr>
          <p:cNvPicPr>
            <a:picLocks noChangeAspect="1"/>
          </p:cNvPicPr>
          <p:nvPr/>
        </p:nvPicPr>
        <p:blipFill>
          <a:blip r:embed="rId4"/>
          <a:stretch>
            <a:fillRect/>
          </a:stretch>
        </p:blipFill>
        <p:spPr>
          <a:xfrm>
            <a:off x="816559" y="4186123"/>
            <a:ext cx="241402" cy="241402"/>
          </a:xfrm>
          <a:prstGeom prst="rect">
            <a:avLst/>
          </a:prstGeom>
        </p:spPr>
      </p:pic>
      <p:sp>
        <p:nvSpPr>
          <p:cNvPr id="25" name="Text 19"/>
          <p:cNvSpPr/>
          <p:nvPr/>
        </p:nvSpPr>
        <p:spPr>
          <a:xfrm>
            <a:off x="1417320" y="3950208"/>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Visualization Layer</a:t>
            </a:r>
            <a:endParaRPr lang="en-US" sz="1400" dirty="0"/>
          </a:p>
        </p:txBody>
      </p:sp>
      <p:sp>
        <p:nvSpPr>
          <p:cNvPr id="26" name="Text 20"/>
          <p:cNvSpPr/>
          <p:nvPr/>
        </p:nvSpPr>
        <p:spPr>
          <a:xfrm>
            <a:off x="4297680" y="3950208"/>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Interactive Tableau dashboard presents insights to stakeholders</a:t>
            </a:r>
            <a:endParaRPr lang="en-US" sz="1200" dirty="0"/>
          </a:p>
        </p:txBody>
      </p:sp>
      <p:sp>
        <p:nvSpPr>
          <p:cNvPr id="27" name="Text 21"/>
          <p:cNvSpPr/>
          <p:nvPr/>
        </p:nvSpPr>
        <p:spPr>
          <a:xfrm>
            <a:off x="502920" y="4645152"/>
            <a:ext cx="548640" cy="182880"/>
          </a:xfrm>
          <a:prstGeom prst="rect">
            <a:avLst/>
          </a:prstGeom>
          <a:noFill/>
          <a:ln/>
        </p:spPr>
        <p:txBody>
          <a:bodyPr wrap="square" rtlCol="0" anchor="ctr"/>
          <a:lstStyle/>
          <a:p>
            <a:pPr algn="ctr" indent="0" marL="0">
              <a:buNone/>
            </a:pPr>
            <a:r>
              <a:rPr lang="en-US" sz="1000" dirty="0">
                <a:solidFill>
                  <a:srgbClr val="86BC25"/>
                </a:solidFill>
              </a:rPr>
              <a:t>↓</a:t>
            </a:r>
            <a:endParaRPr lang="en-US" sz="1000" dirty="0"/>
          </a:p>
        </p:txBody>
      </p:sp>
      <p:sp>
        <p:nvSpPr>
          <p:cNvPr id="28" name="Shape 22"/>
          <p:cNvSpPr/>
          <p:nvPr/>
        </p:nvSpPr>
        <p:spPr>
          <a:xfrm>
            <a:off x="502920" y="4718304"/>
            <a:ext cx="11155680" cy="713232"/>
          </a:xfrm>
          <a:prstGeom prst="rect">
            <a:avLst/>
          </a:prstGeom>
          <a:solidFill>
            <a:srgbClr val="43691B">
              <a:alpha val="85000"/>
            </a:srgbClr>
          </a:solidFill>
          <a:ln/>
        </p:spPr>
      </p:sp>
      <p:sp>
        <p:nvSpPr>
          <p:cNvPr id="29" name="Shape 23"/>
          <p:cNvSpPr/>
          <p:nvPr/>
        </p:nvSpPr>
        <p:spPr>
          <a:xfrm>
            <a:off x="685800" y="4823460"/>
            <a:ext cx="502920" cy="502920"/>
          </a:xfrm>
          <a:prstGeom prst="ellipse">
            <a:avLst/>
          </a:prstGeom>
          <a:solidFill>
            <a:srgbClr val="1A1A1A"/>
          </a:solidFill>
          <a:ln/>
        </p:spPr>
      </p:sp>
      <p:pic>
        <p:nvPicPr>
          <p:cNvPr id="30" name="Image 4" descr="/home/claude/icons/shield.png">    </p:cNvPr>
          <p:cNvPicPr>
            <a:picLocks noChangeAspect="1"/>
          </p:cNvPicPr>
          <p:nvPr/>
        </p:nvPicPr>
        <p:blipFill>
          <a:blip r:embed="rId5"/>
          <a:stretch>
            <a:fillRect/>
          </a:stretch>
        </p:blipFill>
        <p:spPr>
          <a:xfrm>
            <a:off x="816559" y="4954219"/>
            <a:ext cx="241402" cy="241402"/>
          </a:xfrm>
          <a:prstGeom prst="rect">
            <a:avLst/>
          </a:prstGeom>
        </p:spPr>
      </p:pic>
      <p:sp>
        <p:nvSpPr>
          <p:cNvPr id="31" name="Text 24"/>
          <p:cNvSpPr/>
          <p:nvPr/>
        </p:nvSpPr>
        <p:spPr>
          <a:xfrm>
            <a:off x="1417320" y="4718304"/>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Forensic Layer</a:t>
            </a:r>
            <a:endParaRPr lang="en-US" sz="1400" dirty="0"/>
          </a:p>
        </p:txBody>
      </p:sp>
      <p:sp>
        <p:nvSpPr>
          <p:cNvPr id="32" name="Text 25"/>
          <p:cNvSpPr/>
          <p:nvPr/>
        </p:nvSpPr>
        <p:spPr>
          <a:xfrm>
            <a:off x="4297680" y="4718304"/>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Forensic algorithm in Excel quantifies gender pay equality by role &amp; location</a:t>
            </a:r>
            <a:endParaRPr lang="en-US" sz="1200" dirty="0"/>
          </a:p>
        </p:txBody>
      </p:sp>
      <p:sp>
        <p:nvSpPr>
          <p:cNvPr id="33" name="Text 26"/>
          <p:cNvSpPr/>
          <p:nvPr/>
        </p:nvSpPr>
        <p:spPr>
          <a:xfrm>
            <a:off x="502920" y="5413248"/>
            <a:ext cx="548640" cy="182880"/>
          </a:xfrm>
          <a:prstGeom prst="rect">
            <a:avLst/>
          </a:prstGeom>
          <a:noFill/>
          <a:ln/>
        </p:spPr>
        <p:txBody>
          <a:bodyPr wrap="square" rtlCol="0" anchor="ctr"/>
          <a:lstStyle/>
          <a:p>
            <a:pPr algn="ctr" indent="0" marL="0">
              <a:buNone/>
            </a:pPr>
            <a:r>
              <a:rPr lang="en-US" sz="1000" dirty="0">
                <a:solidFill>
                  <a:srgbClr val="86BC25"/>
                </a:solidFill>
              </a:rPr>
              <a:t>↓</a:t>
            </a:r>
            <a:endParaRPr lang="en-US" sz="1000" dirty="0"/>
          </a:p>
        </p:txBody>
      </p:sp>
      <p:sp>
        <p:nvSpPr>
          <p:cNvPr id="34" name="Shape 27"/>
          <p:cNvSpPr/>
          <p:nvPr/>
        </p:nvSpPr>
        <p:spPr>
          <a:xfrm>
            <a:off x="502920" y="5486400"/>
            <a:ext cx="11155680" cy="713232"/>
          </a:xfrm>
          <a:prstGeom prst="rect">
            <a:avLst/>
          </a:prstGeom>
          <a:solidFill>
            <a:srgbClr val="43691B">
              <a:alpha val="65000"/>
            </a:srgbClr>
          </a:solidFill>
          <a:ln/>
        </p:spPr>
      </p:sp>
      <p:sp>
        <p:nvSpPr>
          <p:cNvPr id="35" name="Shape 28"/>
          <p:cNvSpPr/>
          <p:nvPr/>
        </p:nvSpPr>
        <p:spPr>
          <a:xfrm>
            <a:off x="685800" y="5591556"/>
            <a:ext cx="502920" cy="502920"/>
          </a:xfrm>
          <a:prstGeom prst="ellipse">
            <a:avLst/>
          </a:prstGeom>
          <a:solidFill>
            <a:srgbClr val="1A1A1A"/>
          </a:solidFill>
          <a:ln/>
        </p:spPr>
      </p:sp>
      <p:pic>
        <p:nvPicPr>
          <p:cNvPr id="36" name="Image 5" descr="/home/claude/icons/clipboard.png">    </p:cNvPr>
          <p:cNvPicPr>
            <a:picLocks noChangeAspect="1"/>
          </p:cNvPicPr>
          <p:nvPr/>
        </p:nvPicPr>
        <p:blipFill>
          <a:blip r:embed="rId6"/>
          <a:stretch>
            <a:fillRect/>
          </a:stretch>
        </p:blipFill>
        <p:spPr>
          <a:xfrm>
            <a:off x="816559" y="5722315"/>
            <a:ext cx="241402" cy="241402"/>
          </a:xfrm>
          <a:prstGeom prst="rect">
            <a:avLst/>
          </a:prstGeom>
        </p:spPr>
      </p:pic>
      <p:sp>
        <p:nvSpPr>
          <p:cNvPr id="37" name="Text 29"/>
          <p:cNvSpPr/>
          <p:nvPr/>
        </p:nvSpPr>
        <p:spPr>
          <a:xfrm>
            <a:off x="1417320" y="5486400"/>
            <a:ext cx="2743200" cy="71323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Reporting Layer</a:t>
            </a:r>
            <a:endParaRPr lang="en-US" sz="1400" dirty="0"/>
          </a:p>
        </p:txBody>
      </p:sp>
      <p:sp>
        <p:nvSpPr>
          <p:cNvPr id="38" name="Text 30"/>
          <p:cNvSpPr/>
          <p:nvPr/>
        </p:nvSpPr>
        <p:spPr>
          <a:xfrm>
            <a:off x="4297680" y="5486400"/>
            <a:ext cx="7178040" cy="713232"/>
          </a:xfrm>
          <a:prstGeom prst="rect">
            <a:avLst/>
          </a:prstGeom>
          <a:noFill/>
          <a:ln/>
        </p:spPr>
        <p:txBody>
          <a:bodyPr wrap="square" rtlCol="0" anchor="ctr"/>
          <a:lstStyle/>
          <a:p>
            <a:pPr indent="0" marL="0">
              <a:buNone/>
            </a:pPr>
            <a:r>
              <a:rPr lang="en-US" sz="1200" dirty="0">
                <a:solidFill>
                  <a:srgbClr val="E4EBDA"/>
                </a:solidFill>
                <a:latin typeface="Calibri" pitchFamily="34" charset="0"/>
                <a:ea typeface="Calibri" pitchFamily="34" charset="-122"/>
                <a:cs typeface="Calibri" pitchFamily="34" charset="-120"/>
              </a:rPr>
              <a:t>Business conclusions compiled and proposed to the forensic lead</a:t>
            </a:r>
            <a:endParaRPr lang="en-US" sz="1200" dirty="0"/>
          </a:p>
        </p:txBody>
      </p:sp>
      <p:sp>
        <p:nvSpPr>
          <p:cNvPr id="39" name="Text 31"/>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40" name="Text 32"/>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2"/>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Two-Task Simulation Journey</a:t>
            </a:r>
            <a:endParaRPr lang="en-US" sz="3000" dirty="0"/>
          </a:p>
        </p:txBody>
      </p:sp>
      <p:sp>
        <p:nvSpPr>
          <p:cNvPr id="4" name="Shape 2"/>
          <p:cNvSpPr/>
          <p:nvPr/>
        </p:nvSpPr>
        <p:spPr>
          <a:xfrm>
            <a:off x="502920" y="1737360"/>
            <a:ext cx="11155680" cy="192024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5" name="Shape 3"/>
          <p:cNvSpPr/>
          <p:nvPr/>
        </p:nvSpPr>
        <p:spPr>
          <a:xfrm>
            <a:off x="777240" y="2057400"/>
            <a:ext cx="914400" cy="914400"/>
          </a:xfrm>
          <a:prstGeom prst="ellipse">
            <a:avLst/>
          </a:prstGeom>
          <a:solidFill>
            <a:srgbClr val="43691B"/>
          </a:solidFill>
          <a:ln/>
        </p:spPr>
      </p:sp>
      <p:sp>
        <p:nvSpPr>
          <p:cNvPr id="6" name="Text 4"/>
          <p:cNvSpPr/>
          <p:nvPr/>
        </p:nvSpPr>
        <p:spPr>
          <a:xfrm>
            <a:off x="777240" y="205740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Shape 5"/>
          <p:cNvSpPr/>
          <p:nvPr/>
        </p:nvSpPr>
        <p:spPr>
          <a:xfrm>
            <a:off x="10607040" y="2423160"/>
            <a:ext cx="548640" cy="548640"/>
          </a:xfrm>
          <a:prstGeom prst="ellipse">
            <a:avLst/>
          </a:prstGeom>
          <a:solidFill>
            <a:srgbClr val="EEF2E7"/>
          </a:solidFill>
          <a:ln/>
        </p:spPr>
      </p:sp>
      <p:pic>
        <p:nvPicPr>
          <p:cNvPr id="8" name="Image 0" descr="/home/claude/icons/database_dark.png">    </p:cNvPr>
          <p:cNvPicPr>
            <a:picLocks noChangeAspect="1"/>
          </p:cNvPicPr>
          <p:nvPr/>
        </p:nvPicPr>
        <p:blipFill>
          <a:blip r:embed="rId1"/>
          <a:stretch>
            <a:fillRect/>
          </a:stretch>
        </p:blipFill>
        <p:spPr>
          <a:xfrm>
            <a:off x="10749686" y="2565806"/>
            <a:ext cx="263347" cy="263347"/>
          </a:xfrm>
          <a:prstGeom prst="rect">
            <a:avLst/>
          </a:prstGeom>
        </p:spPr>
      </p:pic>
      <p:sp>
        <p:nvSpPr>
          <p:cNvPr id="9" name="Text 6"/>
          <p:cNvSpPr/>
          <p:nvPr/>
        </p:nvSpPr>
        <p:spPr>
          <a:xfrm>
            <a:off x="1965960" y="1965960"/>
            <a:ext cx="8412480" cy="45720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Data Analysis – Operational Insights</a:t>
            </a:r>
            <a:endParaRPr lang="en-US" sz="1700" dirty="0"/>
          </a:p>
        </p:txBody>
      </p:sp>
      <p:sp>
        <p:nvSpPr>
          <p:cNvPr id="10" name="Text 7"/>
          <p:cNvSpPr/>
          <p:nvPr/>
        </p:nvSpPr>
        <p:spPr>
          <a:xfrm>
            <a:off x="1965960" y="2468880"/>
            <a:ext cx="8366760" cy="1051560"/>
          </a:xfrm>
          <a:prstGeom prst="rect">
            <a:avLst/>
          </a:prstGeom>
          <a:noFill/>
          <a:ln/>
        </p:spPr>
        <p:txBody>
          <a:bodyPr wrap="square" rtlCol="0" anchor="t"/>
          <a:lstStyle/>
          <a:p>
            <a:pPr indent="0" marL="0">
              <a:buNone/>
            </a:pPr>
            <a:r>
              <a:rPr lang="en-US" sz="1250" dirty="0">
                <a:solidFill>
                  <a:srgbClr val="3A3A3A"/>
                </a:solidFill>
                <a:latin typeface="Calibri" pitchFamily="34" charset="0"/>
                <a:ea typeface="Calibri" pitchFamily="34" charset="-122"/>
                <a:cs typeface="Calibri" pitchFamily="34" charset="-120"/>
              </a:rPr>
              <a:t>Unified telemetry data from four global factories (single JSON file) into one dataset. Identified operational bottlenecks and downtime patterns, and designed an interactive Tableau dashboard to visualise trends for Daikibo Industrials' stakeholders.</a:t>
            </a:r>
            <a:endParaRPr lang="en-US" sz="1250" dirty="0"/>
          </a:p>
        </p:txBody>
      </p:sp>
      <p:sp>
        <p:nvSpPr>
          <p:cNvPr id="11" name="Shape 8"/>
          <p:cNvSpPr/>
          <p:nvPr/>
        </p:nvSpPr>
        <p:spPr>
          <a:xfrm>
            <a:off x="502920" y="3886200"/>
            <a:ext cx="11155680" cy="1920240"/>
          </a:xfrm>
          <a:prstGeom prst="rect">
            <a:avLst/>
          </a:prstGeom>
          <a:solidFill>
            <a:srgbClr val="FFFFFF"/>
          </a:solidFill>
          <a:ln/>
          <a:effectLst>
            <a:outerShdw sx="100000" sy="100000" kx="0" ky="0" algn="bl" rotWithShape="0" blurRad="63500" dist="25400" dir="5400000">
              <a:srgbClr val="999999">
                <a:alpha val="20000"/>
              </a:srgbClr>
            </a:outerShdw>
          </a:effectLst>
        </p:spPr>
      </p:sp>
      <p:sp>
        <p:nvSpPr>
          <p:cNvPr id="12" name="Shape 9"/>
          <p:cNvSpPr/>
          <p:nvPr/>
        </p:nvSpPr>
        <p:spPr>
          <a:xfrm>
            <a:off x="777240" y="4206240"/>
            <a:ext cx="914400" cy="914400"/>
          </a:xfrm>
          <a:prstGeom prst="ellipse">
            <a:avLst/>
          </a:prstGeom>
          <a:solidFill>
            <a:srgbClr val="43691B"/>
          </a:solidFill>
          <a:ln/>
        </p:spPr>
      </p:sp>
      <p:sp>
        <p:nvSpPr>
          <p:cNvPr id="13" name="Text 10"/>
          <p:cNvSpPr/>
          <p:nvPr/>
        </p:nvSpPr>
        <p:spPr>
          <a:xfrm>
            <a:off x="777240" y="420624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Shape 11"/>
          <p:cNvSpPr/>
          <p:nvPr/>
        </p:nvSpPr>
        <p:spPr>
          <a:xfrm>
            <a:off x="10607040" y="4572000"/>
            <a:ext cx="548640" cy="548640"/>
          </a:xfrm>
          <a:prstGeom prst="ellipse">
            <a:avLst/>
          </a:prstGeom>
          <a:solidFill>
            <a:srgbClr val="EEF2E7"/>
          </a:solidFill>
          <a:ln/>
        </p:spPr>
      </p:sp>
      <p:pic>
        <p:nvPicPr>
          <p:cNvPr id="15" name="Image 1" descr="/home/claude/icons/shield_dark.png">    </p:cNvPr>
          <p:cNvPicPr>
            <a:picLocks noChangeAspect="1"/>
          </p:cNvPicPr>
          <p:nvPr/>
        </p:nvPicPr>
        <p:blipFill>
          <a:blip r:embed="rId2"/>
          <a:stretch>
            <a:fillRect/>
          </a:stretch>
        </p:blipFill>
        <p:spPr>
          <a:xfrm>
            <a:off x="10749686" y="4714646"/>
            <a:ext cx="263347" cy="263347"/>
          </a:xfrm>
          <a:prstGeom prst="rect">
            <a:avLst/>
          </a:prstGeom>
        </p:spPr>
      </p:pic>
      <p:sp>
        <p:nvSpPr>
          <p:cNvPr id="16" name="Text 12"/>
          <p:cNvSpPr/>
          <p:nvPr/>
        </p:nvSpPr>
        <p:spPr>
          <a:xfrm>
            <a:off x="1965960" y="4114800"/>
            <a:ext cx="8412480" cy="457200"/>
          </a:xfrm>
          <a:prstGeom prst="rect">
            <a:avLst/>
          </a:prstGeom>
          <a:noFill/>
          <a:ln/>
        </p:spPr>
        <p:txBody>
          <a:bodyPr wrap="square"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Forensic Technology – Pay Equity Investigation</a:t>
            </a:r>
            <a:endParaRPr lang="en-US" sz="1700" dirty="0"/>
          </a:p>
        </p:txBody>
      </p:sp>
      <p:sp>
        <p:nvSpPr>
          <p:cNvPr id="17" name="Text 13"/>
          <p:cNvSpPr/>
          <p:nvPr/>
        </p:nvSpPr>
        <p:spPr>
          <a:xfrm>
            <a:off x="1965960" y="4617720"/>
            <a:ext cx="8366760" cy="1051560"/>
          </a:xfrm>
          <a:prstGeom prst="rect">
            <a:avLst/>
          </a:prstGeom>
          <a:noFill/>
          <a:ln/>
        </p:spPr>
        <p:txBody>
          <a:bodyPr wrap="square" rtlCol="0" anchor="t"/>
          <a:lstStyle/>
          <a:p>
            <a:pPr indent="0" marL="0">
              <a:buNone/>
            </a:pPr>
            <a:r>
              <a:rPr lang="en-US" sz="1250" dirty="0">
                <a:solidFill>
                  <a:srgbClr val="3A3A3A"/>
                </a:solidFill>
                <a:latin typeface="Calibri" pitchFamily="34" charset="0"/>
                <a:ea typeface="Calibri" pitchFamily="34" charset="-122"/>
                <a:cs typeface="Calibri" pitchFamily="34" charset="-120"/>
              </a:rPr>
              <a:t>Investigated an internal complaint of salary inequality across global roles. Applied a forensic analysis algorithm in Excel to quantify gender pay equality, classified complex datasets, and proposed conclusions to the forensic lead.</a:t>
            </a:r>
            <a:endParaRPr lang="en-US" sz="1250" dirty="0"/>
          </a:p>
        </p:txBody>
      </p:sp>
      <p:sp>
        <p:nvSpPr>
          <p:cNvPr id="18" name="Text 14"/>
          <p:cNvSpPr/>
          <p:nvPr/>
        </p:nvSpPr>
        <p:spPr>
          <a:xfrm>
            <a:off x="502920" y="6080760"/>
            <a:ext cx="11155680" cy="320040"/>
          </a:xfrm>
          <a:prstGeom prst="rect">
            <a:avLst/>
          </a:prstGeom>
          <a:noFill/>
          <a:ln/>
        </p:spPr>
        <p:txBody>
          <a:bodyPr wrap="square" rtlCol="0" anchor="ctr"/>
          <a:lstStyle/>
          <a:p>
            <a:pPr indent="0" marL="0">
              <a:buNone/>
            </a:pPr>
            <a:r>
              <a:rPr lang="en-US" sz="1050" i="1" dirty="0">
                <a:solidFill>
                  <a:srgbClr val="6E6E6E"/>
                </a:solidFill>
                <a:latin typeface="Calibri" pitchFamily="34" charset="0"/>
                <a:ea typeface="Calibri" pitchFamily="34" charset="-122"/>
                <a:cs typeface="Calibri" pitchFamily="34" charset="-120"/>
              </a:rPr>
              <a:t>Note: This was a self-paced, unpaid virtual job simulation completed in September 2026; there was no stipend associated with it.</a:t>
            </a:r>
            <a:endParaRPr lang="en-US" sz="1050" dirty="0"/>
          </a:p>
        </p:txBody>
      </p:sp>
      <p:sp>
        <p:nvSpPr>
          <p:cNvPr id="19" name="Text 15"/>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20" name="Text 16"/>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indent="0" marL="0">
              <a:buNone/>
            </a:pPr>
            <a:r>
              <a:rPr lang="en-US" sz="1200" b="1" spc="150" kern="0" dirty="0">
                <a:solidFill>
                  <a:srgbClr val="43691B"/>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457200" y="777240"/>
            <a:ext cx="10058400" cy="64008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Skills &amp; Capabilities Gained</a:t>
            </a:r>
            <a:endParaRPr lang="en-US" sz="3000" dirty="0"/>
          </a:p>
        </p:txBody>
      </p:sp>
      <p:sp>
        <p:nvSpPr>
          <p:cNvPr id="4" name="Shape 2"/>
          <p:cNvSpPr/>
          <p:nvPr/>
        </p:nvSpPr>
        <p:spPr>
          <a:xfrm>
            <a:off x="502920" y="1783080"/>
            <a:ext cx="411480" cy="411480"/>
          </a:xfrm>
          <a:prstGeom prst="ellipse">
            <a:avLst/>
          </a:prstGeom>
          <a:solidFill>
            <a:srgbClr val="43691B"/>
          </a:solidFill>
          <a:ln/>
        </p:spPr>
      </p:sp>
      <p:pic>
        <p:nvPicPr>
          <p:cNvPr id="5" name="Image 0" descr="/home/claude/icons/check.png">    </p:cNvPr>
          <p:cNvPicPr>
            <a:picLocks noChangeAspect="1"/>
          </p:cNvPicPr>
          <p:nvPr/>
        </p:nvPicPr>
        <p:blipFill>
          <a:blip r:embed="rId1"/>
          <a:stretch>
            <a:fillRect/>
          </a:stretch>
        </p:blipFill>
        <p:spPr>
          <a:xfrm>
            <a:off x="609905" y="1890065"/>
            <a:ext cx="197510" cy="197510"/>
          </a:xfrm>
          <a:prstGeom prst="rect">
            <a:avLst/>
          </a:prstGeom>
        </p:spPr>
      </p:pic>
      <p:sp>
        <p:nvSpPr>
          <p:cNvPr id="6" name="Text 3"/>
          <p:cNvSpPr/>
          <p:nvPr/>
        </p:nvSpPr>
        <p:spPr>
          <a:xfrm>
            <a:off x="1143000" y="1728216"/>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Ability to clean and unify raw, multi-source data (e.g., JSON telemetry data) into one analysable dataset</a:t>
            </a:r>
            <a:endParaRPr lang="en-US" sz="1450" dirty="0"/>
          </a:p>
        </p:txBody>
      </p:sp>
      <p:sp>
        <p:nvSpPr>
          <p:cNvPr id="7" name="Shape 4"/>
          <p:cNvSpPr/>
          <p:nvPr/>
        </p:nvSpPr>
        <p:spPr>
          <a:xfrm>
            <a:off x="502920" y="2496312"/>
            <a:ext cx="411480" cy="411480"/>
          </a:xfrm>
          <a:prstGeom prst="ellipse">
            <a:avLst/>
          </a:prstGeom>
          <a:solidFill>
            <a:srgbClr val="43691B"/>
          </a:solidFill>
          <a:ln/>
        </p:spPr>
      </p:sp>
      <p:pic>
        <p:nvPicPr>
          <p:cNvPr id="8" name="Image 1" descr="/home/claude/icons/check.png">    </p:cNvPr>
          <p:cNvPicPr>
            <a:picLocks noChangeAspect="1"/>
          </p:cNvPicPr>
          <p:nvPr/>
        </p:nvPicPr>
        <p:blipFill>
          <a:blip r:embed="rId2"/>
          <a:stretch>
            <a:fillRect/>
          </a:stretch>
        </p:blipFill>
        <p:spPr>
          <a:xfrm>
            <a:off x="609905" y="2603297"/>
            <a:ext cx="197510" cy="197510"/>
          </a:xfrm>
          <a:prstGeom prst="rect">
            <a:avLst/>
          </a:prstGeom>
        </p:spPr>
      </p:pic>
      <p:sp>
        <p:nvSpPr>
          <p:cNvPr id="9" name="Text 5"/>
          <p:cNvSpPr/>
          <p:nvPr/>
        </p:nvSpPr>
        <p:spPr>
          <a:xfrm>
            <a:off x="1143000" y="2441448"/>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Practical understanding of identifying operational bottlenecks and trends from business data</a:t>
            </a:r>
            <a:endParaRPr lang="en-US" sz="1450" dirty="0"/>
          </a:p>
        </p:txBody>
      </p:sp>
      <p:sp>
        <p:nvSpPr>
          <p:cNvPr id="10" name="Shape 6"/>
          <p:cNvSpPr/>
          <p:nvPr/>
        </p:nvSpPr>
        <p:spPr>
          <a:xfrm>
            <a:off x="502920" y="3209544"/>
            <a:ext cx="411480" cy="411480"/>
          </a:xfrm>
          <a:prstGeom prst="ellipse">
            <a:avLst/>
          </a:prstGeom>
          <a:solidFill>
            <a:srgbClr val="43691B"/>
          </a:solidFill>
          <a:ln/>
        </p:spPr>
      </p:sp>
      <p:pic>
        <p:nvPicPr>
          <p:cNvPr id="11" name="Image 2" descr="/home/claude/icons/check.png">    </p:cNvPr>
          <p:cNvPicPr>
            <a:picLocks noChangeAspect="1"/>
          </p:cNvPicPr>
          <p:nvPr/>
        </p:nvPicPr>
        <p:blipFill>
          <a:blip r:embed="rId3"/>
          <a:stretch>
            <a:fillRect/>
          </a:stretch>
        </p:blipFill>
        <p:spPr>
          <a:xfrm>
            <a:off x="609905" y="3316529"/>
            <a:ext cx="197510" cy="197510"/>
          </a:xfrm>
          <a:prstGeom prst="rect">
            <a:avLst/>
          </a:prstGeom>
        </p:spPr>
      </p:pic>
      <p:sp>
        <p:nvSpPr>
          <p:cNvPr id="12" name="Text 7"/>
          <p:cNvSpPr/>
          <p:nvPr/>
        </p:nvSpPr>
        <p:spPr>
          <a:xfrm>
            <a:off x="1143000" y="3154680"/>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Hands-on exposure to building interactive dashboards in Tableau for stakeholder communication</a:t>
            </a:r>
            <a:endParaRPr lang="en-US" sz="1450" dirty="0"/>
          </a:p>
        </p:txBody>
      </p:sp>
      <p:sp>
        <p:nvSpPr>
          <p:cNvPr id="13" name="Shape 8"/>
          <p:cNvSpPr/>
          <p:nvPr/>
        </p:nvSpPr>
        <p:spPr>
          <a:xfrm>
            <a:off x="502920" y="3922776"/>
            <a:ext cx="411480" cy="411480"/>
          </a:xfrm>
          <a:prstGeom prst="ellipse">
            <a:avLst/>
          </a:prstGeom>
          <a:solidFill>
            <a:srgbClr val="43691B"/>
          </a:solidFill>
          <a:ln/>
        </p:spPr>
      </p:sp>
      <p:pic>
        <p:nvPicPr>
          <p:cNvPr id="14" name="Image 3" descr="/home/claude/icons/check.png">    </p:cNvPr>
          <p:cNvPicPr>
            <a:picLocks noChangeAspect="1"/>
          </p:cNvPicPr>
          <p:nvPr/>
        </p:nvPicPr>
        <p:blipFill>
          <a:blip r:embed="rId4"/>
          <a:stretch>
            <a:fillRect/>
          </a:stretch>
        </p:blipFill>
        <p:spPr>
          <a:xfrm>
            <a:off x="609905" y="4029761"/>
            <a:ext cx="197510" cy="197510"/>
          </a:xfrm>
          <a:prstGeom prst="rect">
            <a:avLst/>
          </a:prstGeom>
        </p:spPr>
      </p:pic>
      <p:sp>
        <p:nvSpPr>
          <p:cNvPr id="15" name="Text 9"/>
          <p:cNvSpPr/>
          <p:nvPr/>
        </p:nvSpPr>
        <p:spPr>
          <a:xfrm>
            <a:off x="1143000" y="3867912"/>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Capability to apply forensic, quantitative techniques in Excel to investigate workplace pay equity</a:t>
            </a:r>
            <a:endParaRPr lang="en-US" sz="1450" dirty="0"/>
          </a:p>
        </p:txBody>
      </p:sp>
      <p:sp>
        <p:nvSpPr>
          <p:cNvPr id="16" name="Shape 10"/>
          <p:cNvSpPr/>
          <p:nvPr/>
        </p:nvSpPr>
        <p:spPr>
          <a:xfrm>
            <a:off x="502920" y="4636008"/>
            <a:ext cx="411480" cy="411480"/>
          </a:xfrm>
          <a:prstGeom prst="ellipse">
            <a:avLst/>
          </a:prstGeom>
          <a:solidFill>
            <a:srgbClr val="43691B"/>
          </a:solidFill>
          <a:ln/>
        </p:spPr>
      </p:sp>
      <p:pic>
        <p:nvPicPr>
          <p:cNvPr id="17" name="Image 4" descr="/home/claude/icons/check.png">    </p:cNvPr>
          <p:cNvPicPr>
            <a:picLocks noChangeAspect="1"/>
          </p:cNvPicPr>
          <p:nvPr/>
        </p:nvPicPr>
        <p:blipFill>
          <a:blip r:embed="rId5"/>
          <a:stretch>
            <a:fillRect/>
          </a:stretch>
        </p:blipFill>
        <p:spPr>
          <a:xfrm>
            <a:off x="609905" y="4742993"/>
            <a:ext cx="197510" cy="197510"/>
          </a:xfrm>
          <a:prstGeom prst="rect">
            <a:avLst/>
          </a:prstGeom>
        </p:spPr>
      </p:pic>
      <p:sp>
        <p:nvSpPr>
          <p:cNvPr id="18" name="Text 11"/>
          <p:cNvSpPr/>
          <p:nvPr/>
        </p:nvSpPr>
        <p:spPr>
          <a:xfrm>
            <a:off x="1143000" y="4581144"/>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Skill to classify complex datasets and draw defensible, evidence-based business conclusions</a:t>
            </a:r>
            <a:endParaRPr lang="en-US" sz="1450" dirty="0"/>
          </a:p>
        </p:txBody>
      </p:sp>
      <p:sp>
        <p:nvSpPr>
          <p:cNvPr id="19" name="Shape 12"/>
          <p:cNvSpPr/>
          <p:nvPr/>
        </p:nvSpPr>
        <p:spPr>
          <a:xfrm>
            <a:off x="502920" y="5349240"/>
            <a:ext cx="411480" cy="411480"/>
          </a:xfrm>
          <a:prstGeom prst="ellipse">
            <a:avLst/>
          </a:prstGeom>
          <a:solidFill>
            <a:srgbClr val="43691B"/>
          </a:solidFill>
          <a:ln/>
        </p:spPr>
      </p:sp>
      <p:pic>
        <p:nvPicPr>
          <p:cNvPr id="20" name="Image 5" descr="/home/claude/icons/check.png">    </p:cNvPr>
          <p:cNvPicPr>
            <a:picLocks noChangeAspect="1"/>
          </p:cNvPicPr>
          <p:nvPr/>
        </p:nvPicPr>
        <p:blipFill>
          <a:blip r:embed="rId6"/>
          <a:stretch>
            <a:fillRect/>
          </a:stretch>
        </p:blipFill>
        <p:spPr>
          <a:xfrm>
            <a:off x="609905" y="5456225"/>
            <a:ext cx="197510" cy="197510"/>
          </a:xfrm>
          <a:prstGeom prst="rect">
            <a:avLst/>
          </a:prstGeom>
        </p:spPr>
      </p:pic>
      <p:sp>
        <p:nvSpPr>
          <p:cNvPr id="21" name="Text 13"/>
          <p:cNvSpPr/>
          <p:nvPr/>
        </p:nvSpPr>
        <p:spPr>
          <a:xfrm>
            <a:off x="1143000" y="5294376"/>
            <a:ext cx="10424160" cy="548640"/>
          </a:xfrm>
          <a:prstGeom prst="rect">
            <a:avLst/>
          </a:prstGeom>
          <a:noFill/>
          <a:ln/>
        </p:spPr>
        <p:txBody>
          <a:bodyPr wrap="square" rtlCol="0" anchor="ctr"/>
          <a:lstStyle/>
          <a:p>
            <a:pPr indent="0" marL="0">
              <a:buNone/>
            </a:pPr>
            <a:r>
              <a:rPr lang="en-US" sz="1450" dirty="0">
                <a:solidFill>
                  <a:srgbClr val="2E2E2E"/>
                </a:solidFill>
                <a:latin typeface="Calibri" pitchFamily="34" charset="0"/>
                <a:ea typeface="Calibri" pitchFamily="34" charset="-122"/>
                <a:cs typeface="Calibri" pitchFamily="34" charset="-120"/>
              </a:rPr>
              <a:t>A completed Deloitte Data Analytics Job Simulation Certificate, verified by Deloitte's Chief HR Officer</a:t>
            </a:r>
            <a:endParaRPr lang="en-US" sz="1450" dirty="0"/>
          </a:p>
        </p:txBody>
      </p:sp>
      <p:sp>
        <p:nvSpPr>
          <p:cNvPr id="22" name="Text 14"/>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23" name="Text 15"/>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2011680" y="-2011680"/>
            <a:ext cx="5029200" cy="5029200"/>
          </a:xfrm>
          <a:prstGeom prst="ellipse">
            <a:avLst/>
          </a:prstGeom>
          <a:solidFill>
            <a:srgbClr val="43691B">
              <a:alpha val="45000"/>
            </a:srgbClr>
          </a:solidFill>
          <a:ln/>
        </p:spPr>
      </p:sp>
      <p:sp>
        <p:nvSpPr>
          <p:cNvPr id="3" name="Text 1"/>
          <p:cNvSpPr/>
          <p:nvPr/>
        </p:nvSpPr>
        <p:spPr>
          <a:xfrm>
            <a:off x="502920" y="502920"/>
            <a:ext cx="5486400" cy="320040"/>
          </a:xfrm>
          <a:prstGeom prst="rect">
            <a:avLst/>
          </a:prstGeom>
          <a:noFill/>
          <a:ln/>
        </p:spPr>
        <p:txBody>
          <a:bodyPr wrap="square" rtlCol="0" anchor="ctr"/>
          <a:lstStyle/>
          <a:p>
            <a:pPr indent="0" marL="0">
              <a:buNone/>
            </a:pPr>
            <a:r>
              <a:rPr lang="en-US" sz="1200" b="1" spc="150" kern="0" dirty="0">
                <a:solidFill>
                  <a:srgbClr val="86BC25"/>
                </a:solidFill>
                <a:latin typeface="Calibri" pitchFamily="34" charset="0"/>
                <a:ea typeface="Calibri" pitchFamily="34" charset="-122"/>
                <a:cs typeface="Calibri" pitchFamily="34" charset="-120"/>
              </a:rPr>
              <a:t>CERTIFICATION</a:t>
            </a:r>
            <a:endParaRPr lang="en-US" sz="1200" dirty="0"/>
          </a:p>
        </p:txBody>
      </p:sp>
      <p:sp>
        <p:nvSpPr>
          <p:cNvPr id="4" name="Text 2"/>
          <p:cNvSpPr/>
          <p:nvPr/>
        </p:nvSpPr>
        <p:spPr>
          <a:xfrm>
            <a:off x="457200" y="822960"/>
            <a:ext cx="54864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Successfully Completed</a:t>
            </a:r>
            <a:endParaRPr lang="en-US" sz="3000" dirty="0"/>
          </a:p>
        </p:txBody>
      </p:sp>
      <p:sp>
        <p:nvSpPr>
          <p:cNvPr id="5" name="Shape 3"/>
          <p:cNvSpPr/>
          <p:nvPr/>
        </p:nvSpPr>
        <p:spPr>
          <a:xfrm>
            <a:off x="502920" y="1965960"/>
            <a:ext cx="502920" cy="502920"/>
          </a:xfrm>
          <a:prstGeom prst="ellipse">
            <a:avLst/>
          </a:prstGeom>
          <a:solidFill>
            <a:srgbClr val="43691B"/>
          </a:solidFill>
          <a:ln/>
        </p:spPr>
      </p:sp>
      <p:pic>
        <p:nvPicPr>
          <p:cNvPr id="6" name="Image 0" descr="/home/claude/icons/award.png">    </p:cNvPr>
          <p:cNvPicPr>
            <a:picLocks noChangeAspect="1"/>
          </p:cNvPicPr>
          <p:nvPr/>
        </p:nvPicPr>
        <p:blipFill>
          <a:blip r:embed="rId1"/>
          <a:stretch>
            <a:fillRect/>
          </a:stretch>
        </p:blipFill>
        <p:spPr>
          <a:xfrm>
            <a:off x="633679" y="2096719"/>
            <a:ext cx="241402" cy="241402"/>
          </a:xfrm>
          <a:prstGeom prst="rect">
            <a:avLst/>
          </a:prstGeom>
        </p:spPr>
      </p:pic>
      <p:sp>
        <p:nvSpPr>
          <p:cNvPr id="7" name="Text 4"/>
          <p:cNvSpPr/>
          <p:nvPr/>
        </p:nvSpPr>
        <p:spPr>
          <a:xfrm>
            <a:off x="1188720" y="1938528"/>
            <a:ext cx="4937760" cy="274320"/>
          </a:xfrm>
          <a:prstGeom prst="rect">
            <a:avLst/>
          </a:prstGeom>
          <a:noFill/>
          <a:ln/>
        </p:spPr>
        <p:txBody>
          <a:bodyPr wrap="square"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Issuing Organization</a:t>
            </a:r>
            <a:endParaRPr lang="en-US" sz="1200" dirty="0"/>
          </a:p>
        </p:txBody>
      </p:sp>
      <p:sp>
        <p:nvSpPr>
          <p:cNvPr id="8" name="Text 5"/>
          <p:cNvSpPr/>
          <p:nvPr/>
        </p:nvSpPr>
        <p:spPr>
          <a:xfrm>
            <a:off x="1188720" y="2194560"/>
            <a:ext cx="51206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Deloitte, verified by Tina McCreery, Chief Human Resources Officer</a:t>
            </a:r>
            <a:endParaRPr lang="en-US" sz="1350" dirty="0"/>
          </a:p>
        </p:txBody>
      </p:sp>
      <p:sp>
        <p:nvSpPr>
          <p:cNvPr id="9" name="Shape 6"/>
          <p:cNvSpPr/>
          <p:nvPr/>
        </p:nvSpPr>
        <p:spPr>
          <a:xfrm>
            <a:off x="502920" y="2926080"/>
            <a:ext cx="502920" cy="502920"/>
          </a:xfrm>
          <a:prstGeom prst="ellipse">
            <a:avLst/>
          </a:prstGeom>
          <a:solidFill>
            <a:srgbClr val="43691B"/>
          </a:solidFill>
          <a:ln/>
        </p:spPr>
      </p:sp>
      <p:pic>
        <p:nvPicPr>
          <p:cNvPr id="10" name="Image 1" descr="/home/claude/icons/globe.png">    </p:cNvPr>
          <p:cNvPicPr>
            <a:picLocks noChangeAspect="1"/>
          </p:cNvPicPr>
          <p:nvPr/>
        </p:nvPicPr>
        <p:blipFill>
          <a:blip r:embed="rId2"/>
          <a:stretch>
            <a:fillRect/>
          </a:stretch>
        </p:blipFill>
        <p:spPr>
          <a:xfrm>
            <a:off x="633679" y="3056839"/>
            <a:ext cx="241402" cy="241402"/>
          </a:xfrm>
          <a:prstGeom prst="rect">
            <a:avLst/>
          </a:prstGeom>
        </p:spPr>
      </p:pic>
      <p:sp>
        <p:nvSpPr>
          <p:cNvPr id="11" name="Text 7"/>
          <p:cNvSpPr/>
          <p:nvPr/>
        </p:nvSpPr>
        <p:spPr>
          <a:xfrm>
            <a:off x="1188720" y="2898648"/>
            <a:ext cx="4937760" cy="274320"/>
          </a:xfrm>
          <a:prstGeom prst="rect">
            <a:avLst/>
          </a:prstGeom>
          <a:noFill/>
          <a:ln/>
        </p:spPr>
        <p:txBody>
          <a:bodyPr wrap="square"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Platform</a:t>
            </a:r>
            <a:endParaRPr lang="en-US" sz="1200" dirty="0"/>
          </a:p>
        </p:txBody>
      </p:sp>
      <p:sp>
        <p:nvSpPr>
          <p:cNvPr id="12" name="Text 8"/>
          <p:cNvSpPr/>
          <p:nvPr/>
        </p:nvSpPr>
        <p:spPr>
          <a:xfrm>
            <a:off x="1188720" y="3154680"/>
            <a:ext cx="51206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Forage</a:t>
            </a:r>
            <a:endParaRPr lang="en-US" sz="1350" dirty="0"/>
          </a:p>
        </p:txBody>
      </p:sp>
      <p:sp>
        <p:nvSpPr>
          <p:cNvPr id="13" name="Shape 9"/>
          <p:cNvSpPr/>
          <p:nvPr/>
        </p:nvSpPr>
        <p:spPr>
          <a:xfrm>
            <a:off x="502920" y="3886200"/>
            <a:ext cx="502920" cy="502920"/>
          </a:xfrm>
          <a:prstGeom prst="ellipse">
            <a:avLst/>
          </a:prstGeom>
          <a:solidFill>
            <a:srgbClr val="43691B"/>
          </a:solidFill>
          <a:ln/>
        </p:spPr>
      </p:sp>
      <p:pic>
        <p:nvPicPr>
          <p:cNvPr id="14" name="Image 2" descr="/home/claude/icons/calendar.png">    </p:cNvPr>
          <p:cNvPicPr>
            <a:picLocks noChangeAspect="1"/>
          </p:cNvPicPr>
          <p:nvPr/>
        </p:nvPicPr>
        <p:blipFill>
          <a:blip r:embed="rId3"/>
          <a:stretch>
            <a:fillRect/>
          </a:stretch>
        </p:blipFill>
        <p:spPr>
          <a:xfrm>
            <a:off x="633679" y="4016959"/>
            <a:ext cx="241402" cy="241402"/>
          </a:xfrm>
          <a:prstGeom prst="rect">
            <a:avLst/>
          </a:prstGeom>
        </p:spPr>
      </p:pic>
      <p:sp>
        <p:nvSpPr>
          <p:cNvPr id="15" name="Text 10"/>
          <p:cNvSpPr/>
          <p:nvPr/>
        </p:nvSpPr>
        <p:spPr>
          <a:xfrm>
            <a:off x="1188720" y="3858768"/>
            <a:ext cx="4937760" cy="274320"/>
          </a:xfrm>
          <a:prstGeom prst="rect">
            <a:avLst/>
          </a:prstGeom>
          <a:noFill/>
          <a:ln/>
        </p:spPr>
        <p:txBody>
          <a:bodyPr wrap="square"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Date of Completion</a:t>
            </a:r>
            <a:endParaRPr lang="en-US" sz="1200" dirty="0"/>
          </a:p>
        </p:txBody>
      </p:sp>
      <p:sp>
        <p:nvSpPr>
          <p:cNvPr id="16" name="Text 11"/>
          <p:cNvSpPr/>
          <p:nvPr/>
        </p:nvSpPr>
        <p:spPr>
          <a:xfrm>
            <a:off x="1188720" y="4114800"/>
            <a:ext cx="51206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September 5th, 2026</a:t>
            </a:r>
            <a:endParaRPr lang="en-US" sz="1350" dirty="0"/>
          </a:p>
        </p:txBody>
      </p:sp>
      <p:sp>
        <p:nvSpPr>
          <p:cNvPr id="17" name="Shape 12"/>
          <p:cNvSpPr/>
          <p:nvPr/>
        </p:nvSpPr>
        <p:spPr>
          <a:xfrm>
            <a:off x="502920" y="4846320"/>
            <a:ext cx="502920" cy="502920"/>
          </a:xfrm>
          <a:prstGeom prst="ellipse">
            <a:avLst/>
          </a:prstGeom>
          <a:solidFill>
            <a:srgbClr val="43691B"/>
          </a:solidFill>
          <a:ln/>
        </p:spPr>
      </p:sp>
      <p:pic>
        <p:nvPicPr>
          <p:cNvPr id="18" name="Image 3" descr="/home/claude/icons/clipboard.png">    </p:cNvPr>
          <p:cNvPicPr>
            <a:picLocks noChangeAspect="1"/>
          </p:cNvPicPr>
          <p:nvPr/>
        </p:nvPicPr>
        <p:blipFill>
          <a:blip r:embed="rId4"/>
          <a:stretch>
            <a:fillRect/>
          </a:stretch>
        </p:blipFill>
        <p:spPr>
          <a:xfrm>
            <a:off x="633679" y="4977079"/>
            <a:ext cx="241402" cy="241402"/>
          </a:xfrm>
          <a:prstGeom prst="rect">
            <a:avLst/>
          </a:prstGeom>
        </p:spPr>
      </p:pic>
      <p:sp>
        <p:nvSpPr>
          <p:cNvPr id="19" name="Text 13"/>
          <p:cNvSpPr/>
          <p:nvPr/>
        </p:nvSpPr>
        <p:spPr>
          <a:xfrm>
            <a:off x="1188720" y="4818888"/>
            <a:ext cx="4937760" cy="274320"/>
          </a:xfrm>
          <a:prstGeom prst="rect">
            <a:avLst/>
          </a:prstGeom>
          <a:noFill/>
          <a:ln/>
        </p:spPr>
        <p:txBody>
          <a:bodyPr wrap="square" rtlCol="0" anchor="ctr"/>
          <a:lstStyle/>
          <a:p>
            <a:pPr indent="0" marL="0">
              <a:buNone/>
            </a:pPr>
            <a:r>
              <a:rPr lang="en-US" sz="1200" b="1" dirty="0">
                <a:solidFill>
                  <a:srgbClr val="86BC25"/>
                </a:solidFill>
                <a:latin typeface="Calibri" pitchFamily="34" charset="0"/>
                <a:ea typeface="Calibri" pitchFamily="34" charset="-122"/>
                <a:cs typeface="Calibri" pitchFamily="34" charset="-120"/>
              </a:rPr>
              <a:t>Practical Tasks</a:t>
            </a:r>
            <a:endParaRPr lang="en-US" sz="1200" dirty="0"/>
          </a:p>
        </p:txBody>
      </p:sp>
      <p:sp>
        <p:nvSpPr>
          <p:cNvPr id="20" name="Text 14"/>
          <p:cNvSpPr/>
          <p:nvPr/>
        </p:nvSpPr>
        <p:spPr>
          <a:xfrm>
            <a:off x="1188720" y="5074920"/>
            <a:ext cx="512064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Data Analysis  &amp;  Forensic Technology</a:t>
            </a:r>
            <a:endParaRPr lang="en-US" sz="1350" dirty="0"/>
          </a:p>
        </p:txBody>
      </p:sp>
      <p:sp>
        <p:nvSpPr>
          <p:cNvPr id="21" name="Shape 15"/>
          <p:cNvSpPr/>
          <p:nvPr/>
        </p:nvSpPr>
        <p:spPr>
          <a:xfrm>
            <a:off x="6126480" y="1051560"/>
            <a:ext cx="5577840" cy="4343400"/>
          </a:xfrm>
          <a:prstGeom prst="rect">
            <a:avLst/>
          </a:prstGeom>
          <a:solidFill>
            <a:srgbClr val="FFFFFF"/>
          </a:solidFill>
          <a:ln/>
          <a:effectLst>
            <a:outerShdw sx="100000" sy="100000" kx="0" ky="0" algn="bl" rotWithShape="0" blurRad="127000" dist="38100" dir="5400000">
              <a:srgbClr val="000000">
                <a:alpha val="40000"/>
              </a:srgbClr>
            </a:outerShdw>
          </a:effectLst>
        </p:spPr>
      </p:sp>
      <p:pic>
        <p:nvPicPr>
          <p:cNvPr id="22" name="Image 4" descr="/home/claude/deloitte_cert.jpg">    </p:cNvPr>
          <p:cNvPicPr>
            <a:picLocks noChangeAspect="1"/>
          </p:cNvPicPr>
          <p:nvPr/>
        </p:nvPicPr>
        <p:blipFill>
          <a:blip r:embed="rId5"/>
          <a:stretch>
            <a:fillRect/>
          </a:stretch>
        </p:blipFill>
        <p:spPr>
          <a:xfrm>
            <a:off x="6263640" y="1188720"/>
            <a:ext cx="5303520" cy="4114800"/>
          </a:xfrm>
          <a:prstGeom prst="rect">
            <a:avLst/>
          </a:prstGeom>
        </p:spPr>
      </p:pic>
      <p:sp>
        <p:nvSpPr>
          <p:cNvPr id="23" name="Text 16"/>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Deloitte Data Analytics Job Simulation  •  Aditya Kumar</a:t>
            </a:r>
            <a:endParaRPr lang="en-US" sz="1000" dirty="0"/>
          </a:p>
        </p:txBody>
      </p:sp>
      <p:sp>
        <p:nvSpPr>
          <p:cNvPr id="24" name="Text 17"/>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8961120" y="-2286000"/>
            <a:ext cx="5943600" cy="5943600"/>
          </a:xfrm>
          <a:prstGeom prst="ellipse">
            <a:avLst/>
          </a:prstGeom>
          <a:solidFill>
            <a:srgbClr val="43691B">
              <a:alpha val="45000"/>
            </a:srgbClr>
          </a:solidFill>
          <a:ln/>
        </p:spPr>
      </p:sp>
      <p:sp>
        <p:nvSpPr>
          <p:cNvPr id="3" name="Shape 1"/>
          <p:cNvSpPr/>
          <p:nvPr/>
        </p:nvSpPr>
        <p:spPr>
          <a:xfrm>
            <a:off x="-2103120" y="4389120"/>
            <a:ext cx="4572000" cy="4572000"/>
          </a:xfrm>
          <a:prstGeom prst="ellipse">
            <a:avLst/>
          </a:prstGeom>
          <a:solidFill>
            <a:srgbClr val="43691B">
              <a:alpha val="40000"/>
            </a:srgbClr>
          </a:solidFill>
          <a:ln/>
        </p:spPr>
      </p:sp>
      <p:pic>
        <p:nvPicPr>
          <p:cNvPr id="4" name="Image 0" descr="/home/claude/iilm_logo.png">    </p:cNvPr>
          <p:cNvPicPr>
            <a:picLocks noChangeAspect="1"/>
          </p:cNvPicPr>
          <p:nvPr/>
        </p:nvPicPr>
        <p:blipFill>
          <a:blip r:embed="rId1"/>
          <a:stretch>
            <a:fillRect/>
          </a:stretch>
        </p:blipFill>
        <p:spPr>
          <a:xfrm>
            <a:off x="5728716" y="1371600"/>
            <a:ext cx="731520" cy="786384"/>
          </a:xfrm>
          <a:prstGeom prst="rect">
            <a:avLst/>
          </a:prstGeom>
        </p:spPr>
      </p:pic>
      <p:sp>
        <p:nvSpPr>
          <p:cNvPr id="5" name="Text 2"/>
          <p:cNvSpPr/>
          <p:nvPr/>
        </p:nvSpPr>
        <p:spPr>
          <a:xfrm>
            <a:off x="0" y="2468880"/>
            <a:ext cx="12188952" cy="91440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6" name="Text 3"/>
          <p:cNvSpPr/>
          <p:nvPr/>
        </p:nvSpPr>
        <p:spPr>
          <a:xfrm>
            <a:off x="0" y="3383280"/>
            <a:ext cx="12188952" cy="365760"/>
          </a:xfrm>
          <a:prstGeom prst="rect">
            <a:avLst/>
          </a:prstGeom>
          <a:noFill/>
          <a:ln/>
        </p:spPr>
        <p:txBody>
          <a:bodyPr wrap="square" rtlCol="0" anchor="ctr"/>
          <a:lstStyle/>
          <a:p>
            <a:pPr algn="ctr" indent="0" marL="0">
              <a:buNone/>
            </a:pPr>
            <a:r>
              <a:rPr lang="en-US" sz="1500" dirty="0">
                <a:solidFill>
                  <a:srgbClr val="C9D4BE"/>
                </a:solidFill>
                <a:latin typeface="Calibri" pitchFamily="34" charset="0"/>
                <a:ea typeface="Calibri" pitchFamily="34" charset="-122"/>
                <a:cs typeface="Calibri" pitchFamily="34" charset="-120"/>
              </a:rPr>
              <a:t>Deloitte Data Analytics Job Simulation  |  Forage Virtual Experience Program</a:t>
            </a:r>
            <a:endParaRPr lang="en-US" sz="1500" dirty="0"/>
          </a:p>
        </p:txBody>
      </p:sp>
      <p:sp>
        <p:nvSpPr>
          <p:cNvPr id="7" name="Shape 4"/>
          <p:cNvSpPr/>
          <p:nvPr/>
        </p:nvSpPr>
        <p:spPr>
          <a:xfrm>
            <a:off x="5271516" y="3931920"/>
            <a:ext cx="1645920" cy="0"/>
          </a:xfrm>
          <a:prstGeom prst="line">
            <a:avLst/>
          </a:prstGeom>
          <a:noFill/>
          <a:ln w="31750">
            <a:solidFill>
              <a:srgbClr val="86BC25"/>
            </a:solidFill>
            <a:prstDash val="solid"/>
          </a:ln>
        </p:spPr>
      </p:sp>
      <p:sp>
        <p:nvSpPr>
          <p:cNvPr id="8" name="Text 5"/>
          <p:cNvSpPr/>
          <p:nvPr/>
        </p:nvSpPr>
        <p:spPr>
          <a:xfrm>
            <a:off x="0" y="4160520"/>
            <a:ext cx="12188952"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Aditya Kumar</a:t>
            </a:r>
            <a:endParaRPr lang="en-US" sz="1800" dirty="0"/>
          </a:p>
        </p:txBody>
      </p:sp>
      <p:sp>
        <p:nvSpPr>
          <p:cNvPr id="9" name="Text 6"/>
          <p:cNvSpPr/>
          <p:nvPr/>
        </p:nvSpPr>
        <p:spPr>
          <a:xfrm>
            <a:off x="0" y="4526280"/>
            <a:ext cx="12188952" cy="320040"/>
          </a:xfrm>
          <a:prstGeom prst="rect">
            <a:avLst/>
          </a:prstGeom>
          <a:noFill/>
          <a:ln/>
        </p:spPr>
        <p:txBody>
          <a:bodyPr wrap="square" rtlCol="0" anchor="ctr"/>
          <a:lstStyle/>
          <a:p>
            <a:pPr algn="ctr" indent="0" marL="0">
              <a:buNone/>
            </a:pPr>
            <a:r>
              <a:rPr lang="en-US" sz="1300" dirty="0">
                <a:solidFill>
                  <a:srgbClr val="C9D4BE"/>
                </a:solidFill>
                <a:latin typeface="Calibri" pitchFamily="34" charset="0"/>
                <a:ea typeface="Calibri" pitchFamily="34" charset="-122"/>
                <a:cs typeface="Calibri" pitchFamily="34" charset="-120"/>
              </a:rPr>
              <a:t>Roll No. 2410031161  |  IILM University, Greater Noida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2026-09-09T14:03:17Z</dcterms:created>
  <dcterms:modified xsi:type="dcterms:W3CDTF">2026-09-09T14:03:17Z</dcterms:modified>
</cp:coreProperties>
</file>